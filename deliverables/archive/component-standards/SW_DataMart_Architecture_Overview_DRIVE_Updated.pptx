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0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2520e2aaf64c56" /><Relationship Type="http://schemas.openxmlformats.org/officeDocument/2006/relationships/extended-properties" Target="/docProps/app.xml" Id="R99e51f820b8141cc" /><Relationship Type="http://schemas.openxmlformats.org/officeDocument/2006/relationships/officeDocument" Target="/ppt/presentation.xml" Id="R4bc0cece1d9b45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390efae2fd457d"/>
    <p:sldMasterId xmlns:r="http://schemas.openxmlformats.org/officeDocument/2006/relationships" id="2147483652" r:id="Ra2e1bec2cc7141e3"/>
    <p:sldMasterId xmlns:r="http://schemas.openxmlformats.org/officeDocument/2006/relationships" id="2147483654" r:id="Rf8cfa659e9cd45a4"/>
    <p:sldMasterId xmlns:r="http://schemas.openxmlformats.org/officeDocument/2006/relationships" id="2147483656" r:id="R9814b9afc30448ba"/>
    <p:sldMasterId xmlns:r="http://schemas.openxmlformats.org/officeDocument/2006/relationships" id="2147483659" r:id="Rb97d0e7879e74b87"/>
    <p:sldMasterId xmlns:r="http://schemas.openxmlformats.org/officeDocument/2006/relationships" id="2147483664" r:id="Rc3b206048eff430b"/>
    <p:sldMasterId xmlns:r="http://schemas.openxmlformats.org/officeDocument/2006/relationships" id="2147483667" r:id="R0a93ed818ea34fb7"/>
    <p:sldMasterId xmlns:r="http://schemas.openxmlformats.org/officeDocument/2006/relationships" id="2147483670" r:id="R92595b65abc44e2a"/>
  </p:sldMasterIdLst>
  <p:notesMasterIdLst>
    <p:notesMasterId xmlns:r="http://schemas.openxmlformats.org/officeDocument/2006/relationships" r:id="R32dc5d0177c449f6"/>
  </p:notesMasterIdLst>
  <p:sldIdLst>
    <p:sldId xmlns:r="http://schemas.openxmlformats.org/officeDocument/2006/relationships" id="256" r:id="R1483aaecfa4e4e83"/>
    <p:sldId xmlns:r="http://schemas.openxmlformats.org/officeDocument/2006/relationships" id="257" r:id="Rdd0915e4b6ef4c0c"/>
    <p:sldId xmlns:r="http://schemas.openxmlformats.org/officeDocument/2006/relationships" id="258" r:id="R52837caae0384a2c"/>
    <p:sldId xmlns:r="http://schemas.openxmlformats.org/officeDocument/2006/relationships" id="259" r:id="Re15d7cc477724ec3"/>
    <p:sldId xmlns:r="http://schemas.openxmlformats.org/officeDocument/2006/relationships" id="260" r:id="R4a9d706eeca04cf3"/>
    <p:sldId xmlns:r="http://schemas.openxmlformats.org/officeDocument/2006/relationships" id="261" r:id="Ra84a066509bd4d96"/>
    <p:sldId xmlns:r="http://schemas.openxmlformats.org/officeDocument/2006/relationships" id="262" r:id="Rbabe361ce9744fad"/>
    <p:sldId xmlns:r="http://schemas.openxmlformats.org/officeDocument/2006/relationships" id="263" r:id="Rce38ee1fc41b4359"/>
    <p:sldId xmlns:r="http://schemas.openxmlformats.org/officeDocument/2006/relationships" id="264" r:id="R25c96922f6cf4f88"/>
    <p:sldId xmlns:r="http://schemas.openxmlformats.org/officeDocument/2006/relationships" id="265" r:id="R816e18cd48e549b2"/>
    <p:sldId xmlns:r="http://schemas.openxmlformats.org/officeDocument/2006/relationships" id="266" r:id="R1c780149dc484c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fd94dad17a46ae" /><Relationship Type="http://schemas.openxmlformats.org/officeDocument/2006/relationships/slideMaster" Target="/ppt/slideMasters/slideMaster1.xml" Id="R93390efae2fd457d" /><Relationship Type="http://schemas.openxmlformats.org/officeDocument/2006/relationships/slideMaster" Target="/ppt/slideMasters/slideMaster2.xml" Id="Ra2e1bec2cc7141e3" /><Relationship Type="http://schemas.openxmlformats.org/officeDocument/2006/relationships/slideMaster" Target="/ppt/slideMasters/slideMaster3.xml" Id="Rf8cfa659e9cd45a4" /><Relationship Type="http://schemas.openxmlformats.org/officeDocument/2006/relationships/slideMaster" Target="/ppt/slideMasters/slideMaster4.xml" Id="R9814b9afc30448ba" /><Relationship Type="http://schemas.openxmlformats.org/officeDocument/2006/relationships/slideMaster" Target="/ppt/slideMasters/slideMaster5.xml" Id="Rb97d0e7879e74b87" /><Relationship Type="http://schemas.openxmlformats.org/officeDocument/2006/relationships/slideMaster" Target="/ppt/slideMasters/slideMaster6.xml" Id="Rc3b206048eff430b" /><Relationship Type="http://schemas.openxmlformats.org/officeDocument/2006/relationships/slideMaster" Target="/ppt/slideMasters/slideMaster7.xml" Id="R0a93ed818ea34fb7" /><Relationship Type="http://schemas.openxmlformats.org/officeDocument/2006/relationships/slideMaster" Target="/ppt/slideMasters/slideMaster8.xml" Id="R92595b65abc44e2a" /><Relationship Type="http://schemas.openxmlformats.org/officeDocument/2006/relationships/notesMaster" Target="/ppt/notesMasters/notesMaster1.xml" Id="R32dc5d0177c449f6" /><Relationship Type="http://schemas.openxmlformats.org/officeDocument/2006/relationships/presProps" Target="/ppt/presProps.xml" Id="R0d127a154a9f49da" /><Relationship Type="http://schemas.openxmlformats.org/officeDocument/2006/relationships/viewProps" Target="/ppt/viewProps.xml" Id="Reb48d40e32dd4d13" /><Relationship Type="http://schemas.openxmlformats.org/officeDocument/2006/relationships/tableStyles" Target="/ppt/tableStyles.xml" Id="Rdb9fe16517d74642" /><Relationship Type="http://schemas.openxmlformats.org/officeDocument/2006/relationships/slide" Target="/ppt/slides/slide1.xml" Id="R1483aaecfa4e4e83" /><Relationship Type="http://schemas.openxmlformats.org/officeDocument/2006/relationships/slide" Target="/ppt/slides/slide2.xml" Id="Rdd0915e4b6ef4c0c" /><Relationship Type="http://schemas.openxmlformats.org/officeDocument/2006/relationships/slide" Target="/ppt/slides/slide3.xml" Id="R52837caae0384a2c" /><Relationship Type="http://schemas.openxmlformats.org/officeDocument/2006/relationships/slide" Target="/ppt/slides/slide4.xml" Id="Re15d7cc477724ec3" /><Relationship Type="http://schemas.openxmlformats.org/officeDocument/2006/relationships/slide" Target="/ppt/slides/slide5.xml" Id="R4a9d706eeca04cf3" /><Relationship Type="http://schemas.openxmlformats.org/officeDocument/2006/relationships/slide" Target="/ppt/slides/slide6.xml" Id="Ra84a066509bd4d96" /><Relationship Type="http://schemas.openxmlformats.org/officeDocument/2006/relationships/slide" Target="/ppt/slides/slide7.xml" Id="Rbabe361ce9744fad" /><Relationship Type="http://schemas.openxmlformats.org/officeDocument/2006/relationships/slide" Target="/ppt/slides/slide8.xml" Id="Rce38ee1fc41b4359" /><Relationship Type="http://schemas.openxmlformats.org/officeDocument/2006/relationships/slide" Target="/ppt/slides/slide9.xml" Id="R25c96922f6cf4f88" /><Relationship Type="http://schemas.openxmlformats.org/officeDocument/2006/relationships/slide" Target="/ppt/slides/slide10.xml" Id="R816e18cd48e549b2" /><Relationship Type="http://schemas.openxmlformats.org/officeDocument/2006/relationships/slide" Target="/ppt/slides/slide11.xml" Id="R1c780149dc484c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0.xml" Id="R8b931be879fe49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0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2ba568c0441f9" /><Relationship Type="http://schemas.openxmlformats.org/officeDocument/2006/relationships/notesMaster" Target="/ppt/notesMasters/notesMaster1.xml" Id="Rad9a1e58b86a40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5cc16533d04e1c" /><Relationship Type="http://schemas.openxmlformats.org/officeDocument/2006/relationships/notesMaster" Target="/ppt/notesMasters/notesMaster1.xml" Id="Rc6b0751f098c40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d9f26889274cf5" /><Relationship Type="http://schemas.openxmlformats.org/officeDocument/2006/relationships/notesMaster" Target="/ppt/notesMasters/notesMaster1.xml" Id="Rc09366b545fa41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6dad716773421f" /><Relationship Type="http://schemas.openxmlformats.org/officeDocument/2006/relationships/notesMaster" Target="/ppt/notesMasters/notesMaster1.xml" Id="R35a5c4b398f841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ce3ad7263b4e20" /><Relationship Type="http://schemas.openxmlformats.org/officeDocument/2006/relationships/notesMaster" Target="/ppt/notesMasters/notesMaster1.xml" Id="Rf9a9513d5d1e44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f215d77b1743af" /><Relationship Type="http://schemas.openxmlformats.org/officeDocument/2006/relationships/notesMaster" Target="/ppt/notesMasters/notesMaster1.xml" Id="R93ef289d9082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24f19b3de4954" /><Relationship Type="http://schemas.openxmlformats.org/officeDocument/2006/relationships/notesMaster" Target="/ppt/notesMasters/notesMaster1.xml" Id="Rc01d451d0c3049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b08f22d0374cb6" /><Relationship Type="http://schemas.openxmlformats.org/officeDocument/2006/relationships/notesMaster" Target="/ppt/notesMasters/notesMaster1.xml" Id="Rf4424906e05c46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5696863de04a67" /><Relationship Type="http://schemas.openxmlformats.org/officeDocument/2006/relationships/notesMaster" Target="/ppt/notesMasters/notesMaster1.xml" Id="R8110f573b3fc46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6399c5b88d491d" /><Relationship Type="http://schemas.openxmlformats.org/officeDocument/2006/relationships/notesMaster" Target="/ppt/notesMasters/notesMaster1.xml" Id="Rb92dc2f4728b4e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e07b5c054124773" /><Relationship Type="http://schemas.openxmlformats.org/officeDocument/2006/relationships/notesMaster" Target="/ppt/notesMasters/notesMaster1.xml" Id="Rb7f37164464349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66764741d46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0d5cb079c42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e0cdbc5ea244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ce31dfc9cd422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6ece63f000549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80707926c2f4b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e258c8ae94f4f5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50a7509e9abd4c8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6ddbb5963d542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352cfc888104ce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86050131b6e437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6479f46d46b74b4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a8bea1b016f347f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ecdb4bf79d642c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e710d13c7f424140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ff01ebf175d64811" /><Relationship Type="http://schemas.openxmlformats.org/officeDocument/2006/relationships/image" Target="/ppt/media/image.jpeg" Id="R5c49e530b2104f8d" /></Relationships>
</file>

<file path=ppt/slideLayouts/slideLayout1.xml><?xml version="1.0" encoding="utf-8"?>
<p:sldLayout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79434" y="2898986"/>
            <a:ext cx="7369791" cy="1104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5453EE3-3222-44C8-8A8F-B68A6E83BF6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779434" y="4210052"/>
            <a:ext cx="6212417" cy="9588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 sz="1867">
                <a:solidFill>
                  <a:schemeClr val="bg1"/>
                </a:solidFill>
              </a:defRPr>
            </a:lvl2pPr>
            <a:lvl3pPr marL="914377" indent="0">
              <a:buNone/>
              <a:defRPr sz="1867">
                <a:solidFill>
                  <a:schemeClr val="bg1"/>
                </a:solidFill>
              </a:defRPr>
            </a:lvl3pPr>
            <a:lvl4pPr marL="1371566" indent="0">
              <a:buNone/>
              <a:defRPr sz="1867">
                <a:solidFill>
                  <a:schemeClr val="bg1"/>
                </a:solidFill>
              </a:defRPr>
            </a:lvl4pPr>
            <a:lvl5pPr marL="1828754" indent="0">
              <a:buNone/>
              <a:defRPr sz="1867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58DA7A06-433D-4971-8012-C3EF6353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BAE0EE29-5AB5-472C-980E-0EF52EE6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04A6DEB2-9FFA-4308-BEDB-5948BF2B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79434" y="2898986"/>
            <a:ext cx="7369791" cy="1104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5453EE3-3222-44C8-8A8F-B68A6E83BF6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779434" y="4210052"/>
            <a:ext cx="6212417" cy="9588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 sz="1867">
                <a:solidFill>
                  <a:schemeClr val="bg1"/>
                </a:solidFill>
              </a:defRPr>
            </a:lvl2pPr>
            <a:lvl3pPr marL="914377" indent="0">
              <a:buNone/>
              <a:defRPr sz="1867">
                <a:solidFill>
                  <a:schemeClr val="bg1"/>
                </a:solidFill>
              </a:defRPr>
            </a:lvl3pPr>
            <a:lvl4pPr marL="1371566" indent="0">
              <a:buNone/>
              <a:defRPr sz="1867">
                <a:solidFill>
                  <a:schemeClr val="bg1"/>
                </a:solidFill>
              </a:defRPr>
            </a:lvl4pPr>
            <a:lvl5pPr marL="1828754" indent="0">
              <a:buNone/>
              <a:defRPr sz="1867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8A627CE1-0D72-4D8A-A54A-58CA813E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08B2ACCA-F6FD-4F91-B3AE-99B3B86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7"/>
            <a:ext cx="10262541" cy="1128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7FCAB4-1506-0841-81D0-A12A01D1395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03302" y="1589476"/>
            <a:ext cx="10284884" cy="48782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Clr>
                <a:schemeClr val="accent6"/>
              </a:buClr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00000"/>
              </a:lnSpc>
              <a:buClr>
                <a:schemeClr val="accent6"/>
              </a:buClr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00000"/>
              </a:lnSpc>
              <a:buClr>
                <a:schemeClr val="accent6"/>
              </a:buClr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00000"/>
              </a:lnSpc>
              <a:buClr>
                <a:schemeClr val="accent6"/>
              </a:buClr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00000"/>
              </a:lnSpc>
              <a:buClr>
                <a:schemeClr val="accent6"/>
              </a:buClr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451FA4C-5610-4469-87B2-082FF7D30D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6C48CA4-947B-4398-A6EE-F7EFE48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7"/>
            <a:ext cx="10262541" cy="1128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7FCAB4-1506-0841-81D0-A12A01D1395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03303" y="2044132"/>
            <a:ext cx="4971384" cy="442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68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60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29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21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12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A4E4F3-E6F0-4B44-B3B5-131FF478204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17316" y="2044132"/>
            <a:ext cx="4971385" cy="442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68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60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29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21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12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3FC7D063-1585-4A87-B8BD-AD9B424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5433"/>
            <a:ext cx="0" cy="5295331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Parallelogram 8">
            <a:extLst xmlns:a="http://schemas.openxmlformats.org/drawingml/2006/main">
              <a:ext uri="{FF2B5EF4-FFF2-40B4-BE49-F238E27FC236}">
                <a16:creationId xmlns:a16="http://schemas.microsoft.com/office/drawing/2014/main" id="{4B0C7434-9420-4414-B379-2CFE49C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2" y="1425434"/>
            <a:ext cx="4971385" cy="53984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Parallelogram 9">
            <a:extLst xmlns:a="http://schemas.openxmlformats.org/drawingml/2006/main">
              <a:ext uri="{FF2B5EF4-FFF2-40B4-BE49-F238E27FC236}">
                <a16:creationId xmlns:a16="http://schemas.microsoft.com/office/drawing/2014/main" id="{2C65D497-A3B2-491B-9834-D1A33C8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316" y="1425434"/>
            <a:ext cx="4971385" cy="53984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B968E56-695A-4127-A94C-0AE7E80CC5F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B26069ED-A8A3-4919-859C-DC88E7BD4FC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151466" y="1424518"/>
            <a:ext cx="4732867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1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685783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1028674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371566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4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A55AB4D2-E187-4AF1-A2BC-8A66DE75700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336573" y="1424518"/>
            <a:ext cx="4732867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1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685783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1028674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371566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D230A1B7-5C41-4BE3-9F5F-5F6992A2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A27680C-8DE7-4106-B92C-CB5943D792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3199" y="22569"/>
            <a:ext cx="932298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73458" y="1403351"/>
            <a:ext cx="9322527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3199" y="22569"/>
            <a:ext cx="932298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73458" y="1403351"/>
            <a:ext cx="9322527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287D2BBF-00C6-4180-8F71-7CE11BC2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12540" y="22569"/>
            <a:ext cx="938364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12801" y="1403351"/>
            <a:ext cx="9383184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A2FB9BA5-779B-4363-BD41-BE1CC27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2_Title Slide">
    <p:bg>
      <p:bgPr>
        <a:blipFill xmlns:a="http://schemas.openxmlformats.org/drawingml/2006/main" rotWithShape="1">
          <a:blip xmlns:r="http://schemas.openxmlformats.org/officeDocument/2006/relationships" r:embed="R5c49e530b2104f8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3A602E8-A35E-4FDB-86D7-E9D791655E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08189" y="5157216"/>
            <a:ext cx="6083811" cy="17007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1911" tIns="121911" rIns="121911" bIns="121911"/>
          <a:lstStyle xmlns:a="http://schemas.openxmlformats.org/drawingml/2006/main">
            <a:lvl1pPr marL="0" indent="0" algn="ctr" defTabSz="914309">
              <a:lnSpc>
                <a:spcPct val="90000"/>
              </a:lnSpc>
              <a:spcBef>
                <a:spcPts val="900"/>
              </a:spcBef>
              <a:buClrTx/>
              <a:buSzTx/>
              <a:buNone/>
              <a:defRPr sz="2400">
                <a:latin typeface="Arial"/>
                <a:ea typeface="Arial"/>
                <a:cs typeface="Arial"/>
              </a:defRPr>
            </a:lvl1pPr>
            <a:lvl2pPr marL="0" indent="171432" algn="ctr" defTabSz="914309">
              <a:lnSpc>
                <a:spcPct val="90000"/>
              </a:lnSpc>
              <a:spcBef>
                <a:spcPts val="900"/>
              </a:spcBef>
              <a:buClrTx/>
              <a:buSzTx/>
              <a:buNone/>
              <a:defRPr sz="2400">
                <a:latin typeface="Arial"/>
                <a:ea typeface="Arial"/>
                <a:cs typeface="Arial"/>
              </a:defRPr>
            </a:lvl2pPr>
            <a:lvl3pPr marL="617159" indent="-274293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3pPr>
            <a:lvl4pPr marL="808184" indent="-293886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4pPr>
            <a:lvl5pPr marL="979617" indent="-293886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4fc220ab3ca481e" /><Relationship Type="http://schemas.openxmlformats.org/officeDocument/2006/relationships/image" Target="/ppt/media/image2.png" Id="Rf1d45ffa54d144a9" /><Relationship Type="http://schemas.openxmlformats.org/officeDocument/2006/relationships/theme" Target="/ppt/slideMasters/theme/theme2.xml" Id="R79d9a2a94a9b4de0" /><Relationship Type="http://schemas.openxmlformats.org/officeDocument/2006/relationships/slideLayout" Target="/ppt/slideLayouts/slideLayout1.xml" Id="Rc36885893e2a4302" /><Relationship Type="http://schemas.openxmlformats.org/officeDocument/2006/relationships/slideLayout" Target="/ppt/slideLayouts/slideLayout2.xml" Id="R278e183ea0634ce5" /><Relationship Type="http://schemas.openxmlformats.org/officeDocument/2006/relationships/slideLayout" Target="/ppt/slideLayouts/slideLayout3.xml" Id="R4d91adaee5b245f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3.png" Id="R79b25fc3a9ff414c" /><Relationship Type="http://schemas.openxmlformats.org/officeDocument/2006/relationships/theme" Target="/ppt/slideMasters/theme/theme3.xml" Id="R989da4099c584e78" /><Relationship Type="http://schemas.openxmlformats.org/officeDocument/2006/relationships/slideLayout" Target="/ppt/slideLayouts/slideLayout4.xml" Id="Reb940ca605004f0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4.png" Id="Ra10037d03b304720" /><Relationship Type="http://schemas.openxmlformats.org/officeDocument/2006/relationships/theme" Target="/ppt/slideMasters/theme/theme4.xml" Id="Rd5eeef19d4e246ef" /><Relationship Type="http://schemas.openxmlformats.org/officeDocument/2006/relationships/slideLayout" Target="/ppt/slideLayouts/slideLayout5.xml" Id="R1a7219ac90f04fe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2972040d11fd4a56" /><Relationship Type="http://schemas.openxmlformats.org/officeDocument/2006/relationships/image" Target="/ppt/media/image5.png" Id="R4ab8981780a04ce5" /><Relationship Type="http://schemas.openxmlformats.org/officeDocument/2006/relationships/theme" Target="/ppt/slideMasters/theme/theme5.xml" Id="R87c53cce40c1444f" /><Relationship Type="http://schemas.openxmlformats.org/officeDocument/2006/relationships/slideLayout" Target="/ppt/slideLayouts/slideLayout6.xml" Id="R1fc4f11c35334b75" /><Relationship Type="http://schemas.openxmlformats.org/officeDocument/2006/relationships/slideLayout" Target="/ppt/slideLayouts/slideLayout7.xml" Id="R4b1b9b9b43054669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6.png" Id="Ra7ae3ba68f2e4584" /><Relationship Type="http://schemas.openxmlformats.org/officeDocument/2006/relationships/image" Target="/ppt/media/image.png" Id="R46f0c8457f1b4084" /><Relationship Type="http://schemas.openxmlformats.org/officeDocument/2006/relationships/image" Target="/ppt/media/image7.png" Id="R8433baae8174488e" /><Relationship Type="http://schemas.openxmlformats.org/officeDocument/2006/relationships/theme" Target="/ppt/slideMasters/theme/theme6.xml" Id="R8362d07b27ec4f23" /><Relationship Type="http://schemas.openxmlformats.org/officeDocument/2006/relationships/slideLayout" Target="/ppt/slideLayouts/slideLayout8.xml" Id="R00d2659d853146c6" /><Relationship Type="http://schemas.openxmlformats.org/officeDocument/2006/relationships/slideLayout" Target="/ppt/slideLayouts/slideLayout9.xml" Id="Rd10e21cedb6a4c4b" /><Relationship Type="http://schemas.openxmlformats.org/officeDocument/2006/relationships/slideLayout" Target="/ppt/slideLayouts/slideLayout10.xml" Id="R8c1bd912ecbb467a" /><Relationship Type="http://schemas.openxmlformats.org/officeDocument/2006/relationships/slideLayout" Target="/ppt/slideLayouts/slideLayout11.xml" Id="R2aaebf1f9418460b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5.png" Id="Rb122afbde6aa45b7" /><Relationship Type="http://schemas.openxmlformats.org/officeDocument/2006/relationships/theme" Target="/ppt/slideMasters/theme/theme7.xml" Id="R92a27cdd4e214c6e" /><Relationship Type="http://schemas.openxmlformats.org/officeDocument/2006/relationships/slideLayout" Target="/ppt/slideLayouts/slideLayout12.xml" Id="Ra429815271af49d7" /><Relationship Type="http://schemas.openxmlformats.org/officeDocument/2006/relationships/slideLayout" Target="/ppt/slideLayouts/slideLayout13.xml" Id="Rc0f353eef6d94fc8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4bcabd6285514233" /><Relationship Type="http://schemas.openxmlformats.org/officeDocument/2006/relationships/slideLayout" Target="/ppt/slideLayouts/slideLayout14.xml" Id="Rc07f4a18beb44321" /><Relationship Type="http://schemas.openxmlformats.org/officeDocument/2006/relationships/slideLayout" Target="/ppt/slideLayouts/slideLayout15.xml" Id="Rdf1a80a9f7994205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4f8e9052f6d041cb" /><Relationship Type="http://schemas.openxmlformats.org/officeDocument/2006/relationships/slideLayout" Target="/ppt/slideLayouts/slideLayout16.xml" Id="Rd9d876b2019a4cc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64FED9-BBD8-495D-A5F7-3762B92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053" y="0"/>
            <a:ext cx="8861947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002915-945F-40C9-A2B1-9A436CF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799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2" name="Right Triangle 1">
            <a:extLst xmlns:a="http://schemas.openxmlformats.org/drawingml/2006/main">
              <a:ext uri="{FF2B5EF4-FFF2-40B4-BE49-F238E27FC236}">
                <a16:creationId xmlns:a16="http://schemas.microsoft.com/office/drawing/2014/main" id="{BDA3FA72-E7D0-4B30-B300-112039E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330051" y="0"/>
            <a:ext cx="2074459" cy="685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c220ab3ca48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589" y="705418"/>
            <a:ext cx="5335411" cy="55348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45ffa54d144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970" y="321009"/>
            <a:ext cx="2660108" cy="76881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6885893e2a4302"/>
    <p:sldLayoutId xmlns:r="http://schemas.openxmlformats.org/officeDocument/2006/relationships" id="2147483650" r:id="R278e183ea0634ce5"/>
    <p:sldLayoutId xmlns:r="http://schemas.openxmlformats.org/officeDocument/2006/relationships" id="2147483651" r:id="R4d91adaee5b245f0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3044C6-951A-4670-9919-BFF8A4D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363941"/>
            <a:ext cx="12187765" cy="64940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984CDD-4254-46C2-8DE6-0CEC191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4235"/>
            <a:ext cx="12192000" cy="2808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25fc3a9ff41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4247" y="1850413"/>
            <a:ext cx="5863507" cy="339404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eb940ca605004f09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CDC2C4-A46B-455C-98FF-2B8F1CC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363941"/>
            <a:ext cx="12187765" cy="64940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4F308BC-3164-43F4-815B-FB6B4823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4235"/>
            <a:ext cx="12192000" cy="2808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037d03b304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2911" y="1856169"/>
            <a:ext cx="5826179" cy="337244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1a7219ac90f04fe6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64FED9-BBD8-495D-A5F7-3762B92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053" y="0"/>
            <a:ext cx="8861947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002915-945F-40C9-A2B1-9A436CF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799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2" name="Right Triangle 1">
            <a:extLst xmlns:a="http://schemas.openxmlformats.org/drawingml/2006/main">
              <a:ext uri="{FF2B5EF4-FFF2-40B4-BE49-F238E27FC236}">
                <a16:creationId xmlns:a16="http://schemas.microsoft.com/office/drawing/2014/main" id="{BDA3FA72-E7D0-4B30-B300-112039E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330051" y="0"/>
            <a:ext cx="2074459" cy="685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2040d11fd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589" y="705418"/>
            <a:ext cx="5335411" cy="55348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8981780a04c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5943" y="203675"/>
            <a:ext cx="3952093" cy="11422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1fc4f11c35334b75"/>
    <p:sldLayoutId xmlns:r="http://schemas.openxmlformats.org/officeDocument/2006/relationships" id="2147483658" r:id="R4b1b9b9b43054669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ae3ba68f2e4584"/>
          <a:srcRect xmlns:a="http://schemas.openxmlformats.org/drawingml/2006/main" l="34749" t="6173" r="0" b="0"/>
          <a:stretch xmlns:a="http://schemas.openxmlformats.org/drawingml/2006/main"/>
        </p:blipFill>
        <p:spPr>
          <a:xfrm xmlns:a="http://schemas.openxmlformats.org/drawingml/2006/main">
            <a:off x="173906" y="6442211"/>
            <a:ext cx="2051305" cy="177592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DCF3B3A-1663-4882-A1AF-AC2EFD12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3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D852E20-910D-408D-A140-031EFC512B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455FD3-1EDA-4D7B-9926-76205BF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1140421"/>
            <a:ext cx="12192000" cy="177591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A7D2DE-9FBF-4AB3-8621-37892B2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6443"/>
            <a:ext cx="12192000" cy="112406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58000">
                <a:srgbClr val="1655BB"/>
              </a:gs>
              <a:gs pos="4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0c8457f1b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72" y="6187364"/>
            <a:ext cx="572553" cy="593957"/>
          </a:xfrm>
          <a:prstGeom xmlns:a="http://schemas.openxmlformats.org/drawingml/2006/main" prst="rect">
            <a:avLst/>
          </a:prstGeom>
        </p:spPr>
      </p:pic>
      <p:pic>
        <p:nvPicPr>
          <p:cNvPr id="2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3baae817448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2385" y="480394"/>
            <a:ext cx="2401751" cy="22322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00d2659d853146c6"/>
    <p:sldLayoutId xmlns:r="http://schemas.openxmlformats.org/officeDocument/2006/relationships" id="2147483661" r:id="Rd10e21cedb6a4c4b"/>
    <p:sldLayoutId xmlns:r="http://schemas.openxmlformats.org/officeDocument/2006/relationships" id="2147483662" r:id="R8c1bd912ecbb467a"/>
    <p:sldLayoutId xmlns:r="http://schemas.openxmlformats.org/officeDocument/2006/relationships" id="2147483663" r:id="R2aaebf1f9418460b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C3FD84-B01C-4FB9-845C-AC523C0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21877"/>
            <a:ext cx="12187765" cy="687987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1AF880-66E5-44A8-9CCF-FA9B881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1" cy="1255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7C47BF-F3C7-402D-A965-698FC6F4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134" y="6352843"/>
            <a:ext cx="174118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Internal Use Only | Company Confidential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6177EE-DC0B-4E42-8EE0-E9CF0A7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365871"/>
            <a:ext cx="12192001" cy="4711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2afbde6aa45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301" y="6148033"/>
            <a:ext cx="2162721" cy="6250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a429815271af49d7"/>
    <p:sldLayoutId xmlns:r="http://schemas.openxmlformats.org/officeDocument/2006/relationships" id="2147483666" r:id="Rc0f353eef6d94fc8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C3FD84-B01C-4FB9-845C-AC523C0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21877"/>
            <a:ext cx="12187765" cy="687987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1AF880-66E5-44A8-9CCF-FA9B881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1" cy="1255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7CAB2D-9429-451E-AAD0-183A1338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134" y="6352843"/>
            <a:ext cx="174118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Internal Use Only | Company Confidential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6177EE-DC0B-4E42-8EE0-E9CF0A7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365871"/>
            <a:ext cx="12192001" cy="4711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c07f4a18beb44321"/>
    <p:sldLayoutId xmlns:r="http://schemas.openxmlformats.org/officeDocument/2006/relationships" id="2147483669" r:id="Rdf1a80a9f7994205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d9d876b2019a4cc0"/>
  </p:sldLayoutIdLst>
  <p:txStyles>
    <p:titleStyle>
      <a:lvl1pPr xmlns:a="http://schemas.openxmlformats.org/drawingml/2006/main" marL="0" marR="0" indent="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11429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228594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342891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457189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571486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685783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80008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91437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305586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1pPr>
      <a:lvl2pPr xmlns:a="http://schemas.openxmlformats.org/drawingml/2006/main" marL="527831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2pPr>
      <a:lvl3pPr xmlns:a="http://schemas.openxmlformats.org/drawingml/2006/main" marL="750075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3pPr>
      <a:lvl4pPr xmlns:a="http://schemas.openxmlformats.org/drawingml/2006/main" marL="972320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4pPr>
      <a:lvl5pPr xmlns:a="http://schemas.openxmlformats.org/drawingml/2006/main" marL="1194563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5pPr>
      <a:lvl6pPr xmlns:a="http://schemas.openxmlformats.org/drawingml/2006/main" marL="1416809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6pPr>
      <a:lvl7pPr xmlns:a="http://schemas.openxmlformats.org/drawingml/2006/main" marL="1639052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7pPr>
      <a:lvl8pPr xmlns:a="http://schemas.openxmlformats.org/drawingml/2006/main" marL="1861297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8pPr>
      <a:lvl9pPr xmlns:a="http://schemas.openxmlformats.org/drawingml/2006/main" marL="2083541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9pPr>
    </p:bodyStyle>
    <p:otherStyle>
      <a:lvl1pPr xmlns:a="http://schemas.openxmlformats.org/drawingml/2006/main" marL="0" marR="0" indent="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11429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228594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342891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457189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571486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685783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80008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91437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7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8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3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32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6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8.xml><?xml version="1.0" encoding="utf-8"?>
<a:theme xmlns:a="http://schemas.openxmlformats.org/drawingml/2006/main" name="7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9.xml><?xml version="1.0" encoding="utf-8"?>
<a:theme xmlns:a="http://schemas.openxmlformats.org/drawingml/2006/main" name="Black">
  <a:themeElements>
    <a:clrScheme name="Black">
      <a:dk1>
        <a:srgbClr val="FF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646d01066b42ae" /><Relationship Type="http://schemas.openxmlformats.org/officeDocument/2006/relationships/notesSlide" Target="/ppt/notesSlides/notesSlide1.xml" Id="R8366610518814c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898ea0f5e604dff" /><Relationship Type="http://schemas.openxmlformats.org/officeDocument/2006/relationships/notesSlide" Target="/ppt/notesSlides/notesSlide2.xml" Id="R1047063774054c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491551aeea84b60" /><Relationship Type="http://schemas.openxmlformats.org/officeDocument/2006/relationships/notesSlide" Target="/ppt/notesSlides/notesSlide3.xml" Id="R164999da0f6746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1ac2a5905014143" /><Relationship Type="http://schemas.openxmlformats.org/officeDocument/2006/relationships/notesSlide" Target="/ppt/notesSlides/notesSlide4.xml" Id="Rc2456245fa8246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12078c2f1844602" /><Relationship Type="http://schemas.openxmlformats.org/officeDocument/2006/relationships/notesSlide" Target="/ppt/notesSlides/notesSlide5.xml" Id="Ra2bda16dd3944a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0a8dfaa0f6d4220" /><Relationship Type="http://schemas.openxmlformats.org/officeDocument/2006/relationships/notesSlide" Target="/ppt/notesSlides/notesSlide6.xml" Id="R63ad4a68e50b46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660fda54d2743a7" /><Relationship Type="http://schemas.openxmlformats.org/officeDocument/2006/relationships/notesSlide" Target="/ppt/notesSlides/notesSlide7.xml" Id="R596436a0c3d843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762c032073244c9" /><Relationship Type="http://schemas.openxmlformats.org/officeDocument/2006/relationships/notesSlide" Target="/ppt/notesSlides/notesSlide8.xml" Id="R0eba4a08b4c146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3113e4e84444d40" /><Relationship Type="http://schemas.openxmlformats.org/officeDocument/2006/relationships/notesSlide" Target="/ppt/notesSlides/notesSlide9.xml" Id="R124d9f8860604d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a37dcd4a7dd4c8f" /><Relationship Type="http://schemas.openxmlformats.org/officeDocument/2006/relationships/notesSlide" Target="/ppt/notesSlides/notesSlide10.xml" Id="R3be4868fdf6c48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1d45fda74794775" /><Relationship Type="http://schemas.openxmlformats.org/officeDocument/2006/relationships/notesSlide" Target="/ppt/notesSlides/notesSlide11.xml" Id="R2433760ebfef4e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135E90D-19AE-4A7A-AE32-416527F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370" y="2563137"/>
            <a:ext cx="7338391" cy="952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chemeClr val="bg1"/>
                </a:solidFill>
              </a:rPr>
              <a:t>Analytics Architecture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A56071-E12C-4236-AF35-CFC4AF3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815" y="3723282"/>
            <a:ext cx="5905500" cy="514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0B2545"/>
                </a:solidFill>
              </a:defRPr>
            </a:pPr>
            <a:r>
              <a:rPr sz="2000" b="1">
                <a:solidFill>
                  <a:schemeClr val="bg1"/>
                </a:solidFill>
              </a:rPr>
              <a:t>A governed APAC analytics foundation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291908-44E1-47BE-94A5-14D585F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</p:spTree>
    <p:extLst>
      <p:ext uri="{BB962C8B-B14F-4D97-AF65-F5344CB8AC3E}">
        <p14:creationId xmlns:p14="http://schemas.microsoft.com/office/powerpoint/2010/main" val="58672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75B9B6-2E4F-456B-A2B3-B96D1C3F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6372B14A-CDCC-436B-90A7-4459B029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BA3B5F3B-E38B-4AEC-BA5D-1A48BDE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43BD65C-CDD7-4A02-8891-197D25D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FD58F99-08FE-498F-ABE9-362ED0DF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1 / REFINED COAT (RC)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BA1F2F1-6FCA-48C0-9534-ED2D760F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Physical tables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Ingest EDI Gold View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Integrate related data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Preserve source keys + audit columns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Establish repeatable load controls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440350D-CD30-4BB3-A935-EB48AF31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1D569F0-792B-467C-AD48-77F89F35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282E2CF-4132-4662-BF2C-C3C53D9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2 / SEALER COAT (SC)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F7DF99B-58C1-4B0C-95E0-B988A12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Table or view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Correct APAC-specific logic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Apply mappings / enrichment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Record rule owner + version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Use only when complexity justifies it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D180555-0451-4987-BD37-472A218E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33375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98A6454-F95D-4415-8BD9-856CAAF1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57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78D6F1F-0F42-41B8-ADB7-D40AA7FB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3 / TOPCOAT (TC)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3084B9-EBD8-435B-8D20-5647EC58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24075"/>
            <a:ext cx="2933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Views</a:t>
            </a:r>
          </a:p>
          <a:p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Publish star-model semantics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Stabilize consumer contract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Expose governed KPIs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• Be the standard consumption source</a:t>
            </a:r>
          </a:p>
        </p:txBody>
      </p:sp>
      <p:cxnSp>
        <p:nvCxnSpPr>
          <p:cNvPr id="118" name="Straight Arrow Connector 85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52850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19" name="Straight Arrow Connector 86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62875" y="31813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D7720D8-6348-4194-AF68-2C532B75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7D36F60E-A057-31CC-A738-B20EEC70A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DA Refinery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4867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73E5C4-94AD-4765-81AC-43EE44F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A233D2B-31AF-4EBD-9C77-B25C2891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EC128A-FC1A-4D31-A83F-CA3615F3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99" y="1489545"/>
            <a:ext cx="11452197" cy="69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75467"/>
                </a:solidFill>
              </a:defRPr>
            </a:pPr>
            <a:r>
              <a:rPr sz="1800" b="1"/>
              <a:t>Global EDI owns the Medallion 3-tier warehouse, Gold View and upstream ETL. APAC owns only local consumption logic and downstream stability.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B4E79E26-86BC-4009-AB6D-49DE71B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A3B6706-5929-43E7-BC8A-B240F1E9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C59FB69-0402-4736-9D32-656B5CC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Global EDI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E12897A-9ED4-4180-8908-F1712D0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Global EDI Medallion warehouse publishes the Gold View as the source contract. APAC does not duplicate upstream ETL.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839345C-D194-4C51-9A0A-3DC332C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DECE19-AF6B-4B64-A72A-358769B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FC49311-D3D9-48FC-B4C7-A8268BBE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21B18B-22DF-45BA-BA9F-FE5D1DC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Integrates, corrects and semantic-models data through clearly owned coats.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70D8480-D5E3-4B11-AABA-9E42251E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32575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BFF795-2C6A-4B21-A261-21F72426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49ECA91-C6E5-4EDB-A4DE-FA5024D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Consumers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06B732-F283-40D7-93FC-7862A83B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987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Use approved consumption views or semantic models in BI, reports and extensions.</a:t>
            </a:r>
          </a:p>
        </p:txBody>
      </p:sp>
      <p:cxnSp>
        <p:nvCxnSpPr>
          <p:cNvPr id="125" name="Straight Arrow Connector 90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766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26" name="Straight Arrow Connector 91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60045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DA933D1-56E3-48A5-A909-1A3F7ED8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Result: faster local change, traceable quality controls, and insulation from unexpected upstream schema changes.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DC91F54-4F18-4C2A-A229-E48CC450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22" name="Title 21">
            <a:extLst xmlns:a="http://schemas.openxmlformats.org/drawingml/2006/main">
              <a:ext uri="{FF2B5EF4-FFF2-40B4-BE49-F238E27FC236}">
                <a16:creationId xmlns:a16="http://schemas.microsoft.com/office/drawing/2014/main" id="{8A643B7C-D742-D618-90AE-6078FBEC8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810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APAC C</a:t>
            </a:r>
            <a:r>
              <a:rPr sz="2400"/>
              <a:t>onsumption with a stable upstream contract </a:t>
            </a:r>
          </a:p>
        </p:txBody>
      </p:sp>
    </p:spTree>
    <p:extLst>
      <p:ext uri="{BB962C8B-B14F-4D97-AF65-F5344CB8AC3E}">
        <p14:creationId xmlns:p14="http://schemas.microsoft.com/office/powerpoint/2010/main" val="1357088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DD642B-92E2-44B5-9BD3-3CE2DB3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78AF3FF-4873-4DC3-A250-848C943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EB9321EA-4B5B-47EE-AE92-62955807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D1D72F-6F96-4B06-8C39-0B5C24EB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E47E927-232A-42D1-AEC8-09E02B5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49" y="2781300"/>
            <a:ext cx="152615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Gold View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DF28E54-1FC0-41EA-8515-66D061D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Upstream curated contract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3604497-4009-46CD-BF4E-B9EC8F0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94070EB-3FDE-4BF9-A06C-A72CE667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9DD9B9-AB02-4380-A5F6-434B639D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Refined Coat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90C08F-5249-4706-9C86-E1B905EA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RC · Ingest + integrate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937155E-81CA-4AC6-95F0-566EAF6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F1CD413-BFF7-4CC4-8F2A-3520A2A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C4A1B47-18DA-48A9-A76C-DCC49292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Sealer Coat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45DED8B-5290-4EC1-AB96-34347FDC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SC · Correct + enrich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636D5C98-47EF-4AA7-952D-1A1A22D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13BAA4A-5621-4A87-92D5-6897F682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61E79A5-08E6-4D33-92F5-33BB8DC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 Coat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6D25875-E370-40CE-9472-10227383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52775"/>
            <a:ext cx="144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TC · Semantic serving views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762E425B-2EC1-4494-955D-17A5E4C3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18478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05F87D4-156E-4CFA-8C81-3A3A725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0985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20D39D1-998C-4EF1-AFF8-E7A0CEE2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Analytics outputs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43ADFC4-4AD7-454E-809F-7E17E1B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31597"/>
            <a:ext cx="1447800" cy="868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Dashboards / reports / extensions</a:t>
            </a:r>
          </a:p>
        </p:txBody>
      </p:sp>
      <p:cxnSp>
        <p:nvCxnSpPr>
          <p:cNvPr id="186" name="Straight Arrow Connector 133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87" name="Straight Arrow Connector 134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339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88" name="Straight Arrow Connector 135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80085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cxnSp>
        <p:nvCxnSpPr>
          <p:cNvPr id="189" name="Straight Arrow Connector 136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67800" y="346710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headEnd type="arrow" w="med" len="med"/>
          </a:ln>
        </p:spPr>
      </p:cxn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3DE2603-392B-482C-869F-E0AF0732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24" name="Title 23">
            <a:extLst xmlns:a="http://schemas.openxmlformats.org/drawingml/2006/main">
              <a:ext uri="{FF2B5EF4-FFF2-40B4-BE49-F238E27FC236}">
                <a16:creationId xmlns:a16="http://schemas.microsoft.com/office/drawing/2014/main" id="{844919EF-076C-94C6-F9E2-EFE480B11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From EDI Gold View to governed APAC outputs</a:t>
            </a:r>
          </a:p>
        </p:txBody>
      </p:sp>
    </p:spTree>
    <p:extLst>
      <p:ext uri="{BB962C8B-B14F-4D97-AF65-F5344CB8AC3E}">
        <p14:creationId xmlns:p14="http://schemas.microsoft.com/office/powerpoint/2010/main" val="254930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BBFF45-B4C9-4C97-86AB-D65D652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5D990DD-66CD-4578-BFCB-9325CE8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95A5CD-6E6A-47EF-A52C-312CF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2EF1CCC-A995-49C3-886F-BE6137B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E2C0CA-5D3C-42A5-B3DD-16D972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780D2A4-A203-4C82-8145-0CDD41B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AC2584-7CDC-40EF-B36D-E64F32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5DB215-9E95-4F9D-844A-3FA98FA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596DE6A-A8CE-49DB-9BE7-14258F7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073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D8A1B6-3126-4CC2-A62E-FBF2799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03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FF0000"/>
                </a:solidFill>
              </a:rPr>
              <a:t>Business source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1D96499-EBD1-4B6B-B45F-E4B266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073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FA98B0-3B51-4BE3-B017-F803C5E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503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Oracle EBS / boundary systems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99F1468-B8B8-43CF-B599-41FCB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073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1EDBFB1-FA11-4410-8426-D2B5A2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503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Source document, module and extraction timestamp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B00772B-E0C6-40A1-98F6-0EA57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3675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668BDAD-5DDD-4C13-914A-3BCDFF4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Curated entry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08A1A2E-FFEA-4412-BDF6-64B272C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015583E-AE1E-4011-BABE-36C4FB7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EDI Gold View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17E1992-F292-4236-96AC-B8D8D7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24F2BC7-1A69-4B62-B1A2-CE7C874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47975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Approved upstream object and schema version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826724C-755C-4092-9E02-1E9F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2FE483-576F-4E8B-93F0-3D6EC38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0913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APAC consumption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783581B-3FD3-402F-AD88-3699139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6613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A0C7E6E-DA1E-4402-91BB-E2BBD61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0913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RC → SC → TC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5F48C3A-F717-4F8C-991B-C879965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76613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4806CE8-7889-41E3-9EF6-763D3E9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90913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Mapping, rule version, batch, DQ results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DFECA5F-5DFC-493E-9CF1-268782B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6EF9EDF-7229-4AE5-8983-0CB8599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Semantic model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8DF66A6-016A-4AB7-814B-0BBF6C2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39CB8BE-2AED-4CAC-9B2E-21BB70C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Power BI / Tableau model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12C83C0-C5B1-4236-B3B9-5AE5F60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2972EA7-7A6D-411E-921F-6E74D68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33850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Relationships, measures, security roles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1A890BD6-91FF-4F70-81FB-EDB15F1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248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0C42D69-963F-4E0F-835C-ED64BE8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678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Consumer output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FFF2020-4B5C-42E1-A706-08F3B25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248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A33E762-4497-4BC8-9CF7-EB096D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678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IV / RP / EX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355F70D-6B20-4593-A214-F3FDB05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6248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0E3F376C-9CA3-4C4E-BB2F-F17660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7678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Dashboard, report or extension ID and release version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A4796B3-F762-4BD8-9BF3-CDF3412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Lineage record must </a:t>
            </a:r>
            <a:r>
              <a:rPr sz="1575" b="1">
                <a:solidFill>
                  <a:srgbClr val="0B2545"/>
                </a:solidFill>
              </a:rPr>
              <a:t>include</a:t>
            </a:r>
            <a:r>
              <a:rPr sz="1575" b="1">
                <a:solidFill>
                  <a:srgbClr val="0B2545"/>
                </a:solidFill>
              </a:rPr>
              <a:t> source-to-target mapping • business owner • technical owner • grain • refresh SLA • acceptance evidence.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6CA5DEA-A2C4-46E9-A009-DB7584D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44" name="Title 23">
            <a:extLst xmlns:a="http://schemas.openxmlformats.org/drawingml/2006/main">
              <a:ext uri="{FF2B5EF4-FFF2-40B4-BE49-F238E27FC236}">
                <a16:creationId xmlns:a16="http://schemas.microsoft.com/office/drawing/2014/main" id="{59C0CF25-4746-A20E-A2F6-BD5F69497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Data Lineage</a:t>
            </a:r>
          </a:p>
        </p:txBody>
      </p:sp>
    </p:spTree>
    <p:extLst>
      <p:ext uri="{BB962C8B-B14F-4D97-AF65-F5344CB8AC3E}">
        <p14:creationId xmlns:p14="http://schemas.microsoft.com/office/powerpoint/2010/main" val="617020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D6A4CE-2307-41FA-B7CA-E6F74449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C020CBD7-01A6-4665-BE79-03F91CE0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CC09EBAF-6401-4243-A224-CAAF5BD4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3429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E094E2-0BF4-4B4D-B87F-7B13678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697E74-B6BD-4955-A28D-D21617E7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194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Metric / MET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360B5B-4C55-49C0-BCBD-1C1A4F2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90875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One declared event or snapshot grain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Example: order line, inventory item-location-day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1577CA14-862E-4DD8-8735-FCE5EB2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71D19C4-1ED5-441A-9BCB-6F24240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298B1F-508C-4CCD-8C86-3C40D7BC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58618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Customer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E242015-474A-4A78-B3A6-783FB614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74" name="Straight Arrow Connector 121"/>
          <p:cNvCxnSpPr>
            <a:stCxn xmlns:a="http://schemas.openxmlformats.org/drawingml/2006/main" id="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95750" y="2057400"/>
            <a:ext cx="2857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F88CFB1C-2B9D-4A14-B05D-5F47827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FB7583-6412-4067-99A2-8BBC692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621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66F3AA7-BC3C-446C-9CE2-110C4B70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6573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Product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9061CF-A243-4FC5-8E52-94D88858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050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79" name="Straight Arrow Connector 126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810500" y="2057400"/>
            <a:ext cx="476250" cy="1247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F476F55F-4576-4621-867F-EC4FC5EA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159ABCF-83A6-4EA5-A623-DFC5257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C9E4A0F-201C-4969-8D22-1A944D2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93926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Date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1CA0C71-7348-4598-9197-64AFF0BA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84" name="Straight Arrow Connector 131"/>
          <p:cNvCxnSpPr>
            <a:stCxn xmlns:a="http://schemas.openxmlformats.org/drawingml/2006/main" id="18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4095750" y="3305175"/>
            <a:ext cx="2857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DBE7F562-357E-45F6-932B-E43CA62C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5EE4FC5-2415-40C5-B99C-75FD73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815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8B07092-D6BD-4DD1-8394-1FBFED55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5973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Reference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Organization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D54E204-4EB1-4BAA-A984-0B10F5AD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244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Conformed business context</a:t>
            </a:r>
          </a:p>
        </p:txBody>
      </p:sp>
      <p:cxnSp>
        <p:nvCxnSpPr>
          <p:cNvPr id="189" name="Straight Arrow Connector 136"/>
          <p:cNvCxnSpPr>
            <a:stCxn xmlns:a="http://schemas.openxmlformats.org/drawingml/2006/main" id="2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810500" y="3305175"/>
            <a:ext cx="47625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3FDDCE2-2EA8-4147-9E2B-A5F4CC86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475467"/>
                </a:solidFill>
              </a:defRPr>
            </a:pPr>
            <a:r>
              <a:rPr sz="1425" b="0">
                <a:solidFill>
                  <a:srgbClr val="475467"/>
                </a:solidFill>
              </a:rPr>
              <a:t>Use Link / LNK only for legitimate many-to-many relationships. Use Rollup / RUP only for approved reusable aggregation or performance needs.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E9365C0-5663-4A76-86D0-A5B6085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9F160C78-61E7-0396-CFFA-CAB0B3CCC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Star Schema</a:t>
            </a:r>
          </a:p>
        </p:txBody>
      </p:sp>
    </p:spTree>
    <p:extLst>
      <p:ext uri="{BB962C8B-B14F-4D97-AF65-F5344CB8AC3E}">
        <p14:creationId xmlns:p14="http://schemas.microsoft.com/office/powerpoint/2010/main" val="18874881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64DA4B-52CE-44BB-8133-D04DC95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06EB25B8-5321-4278-B3CB-C44640D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AF6253-394C-48BE-8783-2A69DFC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A95F2B-693D-45FE-8031-6EDB5D8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2D6878-2B72-40AF-9EC1-2204219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3B71219-E3E2-49CF-84DA-80E763E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031392-16FE-454D-87E6-18AF26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57B33C-029F-4213-A2AE-5B3A639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9D16DB1-AA29-460A-9563-822010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8A96A1-FB73-4CF0-8C1A-866595E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REF  Reference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5FD89C-94CD-4149-A997-7ABF72B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866CB0A-D96F-49DE-A37D-E1E4F1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context; stable descriptive entity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739BE2F-1158-4181-A87F-136D837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4BE550B-D1F4-4C3A-90F1-9A2A02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860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entity/version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EAA24A8-F9EE-4C01-BC02-2D9CA5B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1B45465-9AFF-486A-AA73-176620B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MET  Metric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648E2D-7741-436E-9807-C15576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05949F3-B9AB-487E-8FEC-C65C6A5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event or periodic / accumulating snapshot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1A2D7D-37D3-47C7-81F3-EC1F7D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956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23CC6D0-8A67-438A-9A46-11ED50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099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declared grain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5B07B2B-79F2-4367-B49C-18289F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05A1273-8E02-4C89-8B7D-2FB9E52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LNK  Link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FB382E-466E-4EFE-A82D-B90BCF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195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3FDDC1-C19C-48D5-944D-11A612F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Many-to-many association with explicit allocation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45DBDB0-1193-4015-8DEC-967221E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195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49642F5-B93E-468B-8090-2A055BE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association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8D25032-326E-45C1-B791-4B7453B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509CE32-3B69-402E-8400-C74B157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RUP  Rollup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B7016F5-E0B4-4638-95C4-EA44B7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0CFF89-09E6-4856-A410-8069135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Reusable approved aggregation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7333EEC-4768-46D0-905C-F36CA7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FC45159-1534-436F-9794-B8C9A60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One row per aggregation grain + period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29982D6-32DE-4392-831A-568461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Name pattern: SW</a:t>
            </a:r>
            <a:r>
              <a:rPr sz="1575" b="1">
                <a:solidFill>
                  <a:srgbClr val="0B2545"/>
                </a:solidFill>
              </a:rPr>
              <a:t>_</a:t>
            </a:r>
            <a:r>
              <a:rPr sz="1575" b="1">
                <a:solidFill>
                  <a:srgbClr val="0B2545"/>
                </a:solidFill>
              </a:rPr>
              <a:t>APAC_&lt;SUBJECT&gt;_&lt;OBJECT&gt;_&lt;REF|MET|LNK|RUP&gt;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522A5E5-C297-4F76-8E42-DCA6A2D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38" name="Title 23">
            <a:extLst xmlns:a="http://schemas.openxmlformats.org/drawingml/2006/main">
              <a:ext uri="{FF2B5EF4-FFF2-40B4-BE49-F238E27FC236}">
                <a16:creationId xmlns:a16="http://schemas.microsoft.com/office/drawing/2014/main" id="{AFDA9FF0-AC78-66DC-2178-A63A7EF36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>Tables &amp; Views </a:t>
            </a:r>
          </a:p>
        </p:txBody>
      </p:sp>
    </p:spTree>
    <p:extLst>
      <p:ext uri="{BB962C8B-B14F-4D97-AF65-F5344CB8AC3E}">
        <p14:creationId xmlns:p14="http://schemas.microsoft.com/office/powerpoint/2010/main" val="8568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9AB113-3C80-4762-9518-FFEF1E2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09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C68DF4F-12EA-4A21-A2DB-B6F795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C1F9809A-82DD-4B7B-97B2-0AD4A03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4429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FA755A-6D86-4304-9A65-C63ADC9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72F2A7-FE7A-4ACD-AA71-1803E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64059"/>
            <a:ext cx="4029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TOPCOAT + SEMANTIC MODEL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993573-0D78-475A-BA2B-C373F5C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40284"/>
            <a:ext cx="411157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Stable source contract, conformed references, governed measures and security context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ECBB71C-B482-45FC-8145-46F3451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827A27-8261-46E1-BED9-1E519A9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09460E-774D-4D86-8FE2-9DD6FFA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DA-100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3661F4-FD05-49EF-A0BB-8602BF1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Architecture: Gold View, RC/SC, model &amp; lineage</a:t>
            </a:r>
          </a:p>
        </p:txBody>
      </p:sp>
      <p:cxnSp>
        <p:nvCxnSpPr>
          <p:cNvPr id="174" name="Straight Arrow Connector 121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657350" y="2483209"/>
            <a:ext cx="44338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09102E3A-BB02-44D9-88EA-33E7533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92F345E-A34A-401B-A6A4-9219E7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A60C8DA-2B1B-45B9-864E-E9E05CF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DA-200 | IV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7118174-F1A5-466F-8BC5-3BA6F2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Visualisation: TC, dashboards, measures &amp; workspace</a:t>
            </a:r>
          </a:p>
        </p:txBody>
      </p:sp>
      <p:cxnSp>
        <p:nvCxnSpPr>
          <p:cNvPr id="179" name="Straight Arrow Connector 126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514850" y="2483209"/>
            <a:ext cx="15763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BAEC1ED5-A3E6-43BA-B7D2-9D7AB80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4BC7C7-31B1-4FE3-9165-DD959B2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AA8101-8244-43AC-B84C-087D7098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DA-200 | RP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A23E42-9571-431A-A8A7-9736F4E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Report: columns, layout, history &amp; distribution</a:t>
            </a:r>
          </a:p>
        </p:txBody>
      </p:sp>
      <p:cxnSp>
        <p:nvCxnSpPr>
          <p:cNvPr id="184" name="Straight Arrow Connector 131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1238" y="2483209"/>
            <a:ext cx="12811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A246DC29-8DBA-4F50-9997-89F774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DBEDC06-6469-49C2-984E-649EB11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6F7BDCD-6D77-4201-B9CA-F7C656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DA-200 | EX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B439037-57A1-4141-A071-306954E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Extension: access, Power Apps &amp; Power Automate</a:t>
            </a:r>
          </a:p>
        </p:txBody>
      </p:sp>
      <p:cxnSp>
        <p:nvCxnSpPr>
          <p:cNvPr id="189" name="Straight Arrow Connector 136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1238" y="2483209"/>
            <a:ext cx="41386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9F87C96-51E3-44B8-96AC-2193D8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DA-200 integrates visualisation, report and extension design under the DRIVE enhancement ID.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2BF62EF-7C77-4EDD-B938-499917E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0BA46F30-65C0-165E-B8E5-6225EA0B7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Two design documents</a:t>
            </a:r>
          </a:p>
        </p:txBody>
      </p:sp>
    </p:spTree>
    <p:extLst>
      <p:ext uri="{BB962C8B-B14F-4D97-AF65-F5344CB8AC3E}">
        <p14:creationId xmlns:p14="http://schemas.microsoft.com/office/powerpoint/2010/main" val="788300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1F7AF-6B6F-47B1-A0F0-AF9C6B0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10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3081ED6C-E049-4F8B-B54F-48E4716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A76CD3-86A4-4152-8450-07650F2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ED42DB-DDD6-480B-98D8-3CAA7C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EC0C1E-E410-48E5-B9E9-18612B3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8DC0E6B-7BA6-4419-885C-F8660FD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Artefact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046901-4A14-49F7-A827-8F1F335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DEDE34-5FD0-4824-9298-2481EA4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Required 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B060B6-AEAB-4DB8-9945-F8439E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5A4EBA2-6BA2-4805-BC43-88723BE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DA-100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76DF0A-BD73-4D58-BCEF-EA5AABD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8122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AAB554D-25D1-4FE9-B9B4-FF7ECE7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Data Architecture Design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4AC5C07-16EA-4B8B-B081-9DE4B67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8122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9469656-FFBC-4153-A691-493C8C2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9552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Gold View source, RC/SC processing, tables, controls and data foundations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A802171-7A94-4C4B-8F7B-AD51962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4905193-4E4B-4A26-9174-5876273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DA-200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736A220-BA8A-4CE2-9DCD-F95DEBF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70EB478-893A-4E37-BACB-E346B32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Data Analytics Delivery Design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058CEC5-10CE-4811-838D-5AD95BF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A20FE53-514C-4B04-9C6B-7B775A3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2895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Business purpose and logic; TC source; visualisation, report and extension design; UAT and release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F2894BB-4B71-4B1C-B10E-20E8A8D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4807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082E1C0-7193-4A1D-B78B-370C679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DRIVE-###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61D302-E471-45BA-BC2B-7ADA209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9D8B8E-5305-4F86-A1F0-B33E114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6237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Enhancement Identifier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42D2227-543D-4700-AD95-255C18B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4807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A551D74-9211-4331-813C-69FF704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6237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Links DA-100 and DA-200; tracks scope, flow, decisions, final screenshot and release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142A97E-6B0E-4F06-BFC1-A24791A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7ECAA5-6CB3-4C6C-AE8F-397ECAC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Integrated sections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9243D3E-889A-44DB-A7E1-5D8E00B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815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F966510-4C46-4B1E-B39C-860B34C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No standalone IV / RP / EX Word templates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30A5258-0451-4AA7-B281-BF4DCC8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815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0614DBD-6F72-49AD-8462-F0F102F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DA-200 contains their requirements, design evidence and configuration or code references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27CB9C3-453D-4FE8-A482-613939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Every enhancement uses a DRIVE ID and maintains only the two applicable design documents.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5D806F7-CA9E-46DB-A929-FFE25ED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38" name="Title 23">
            <a:extLst xmlns:a="http://schemas.openxmlformats.org/drawingml/2006/main">
              <a:ext uri="{FF2B5EF4-FFF2-40B4-BE49-F238E27FC236}">
                <a16:creationId xmlns:a16="http://schemas.microsoft.com/office/drawing/2014/main" id="{211FF282-6499-A51A-3E31-12E27898C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DA-100, DA-200 and DRIVE</a:t>
            </a:r>
          </a:p>
        </p:txBody>
      </p:sp>
    </p:spTree>
    <p:extLst>
      <p:ext uri="{BB962C8B-B14F-4D97-AF65-F5344CB8AC3E}">
        <p14:creationId xmlns:p14="http://schemas.microsoft.com/office/powerpoint/2010/main" val="517812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8CBED8-2167-4372-8E78-9EC26F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11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8954C78-49AB-4A34-BCAA-3253C70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119DF199-2C6F-4A3E-9CB6-062B05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AEC1B6-1539-4347-A216-DB3FAD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2FB2849-3399-4895-98E4-4B5B8C2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PMO Manager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64A061-22E6-451A-B926-418BE6E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Set priorities, approve scope and KPI ownership, resolve cross-team decisions.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6A28DE1B-BCD2-487F-A165-6A8B928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570B63-0AC3-4E1B-B41B-8B98FFC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3BD0A2-4364-4168-BF7D-F4FF339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ERP Consultant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5A350FC-1016-4537-BB75-88F91ED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process truth, field meaning, exceptions and acceptance scenarios.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1A3FBFE-77A9-43B3-AA81-B4658B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16AED61-7AB2-40D6-8B87-07DCE46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15E7A0-65EE-4979-81E3-83EBDED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Technical Analyst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76A3DA9-4D4E-4A1D-BDA6-5C0A384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Maintains DA-100 / DA-200 design, technical validation and support evidence.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E4A4CA6-B1AA-4980-959C-8D36878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8E1977-CB70-449A-857B-96A86DE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520E82-7884-45B5-A74D-8CCEAED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End User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40A7B9E-8625-424B-A356-FE9E9D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Define expected result, validate UAT and accept the delivered output.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F791C06-8C1B-4727-BBEF-A6ED0B1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Change flow: request → impact assessment → design approval → build → reconcile → UAT → release → quarterly review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CD2C6E6-6AB1-4559-92A1-6A7F8A7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24" name="Title 23">
            <a:extLst xmlns:a="http://schemas.openxmlformats.org/drawingml/2006/main">
              <a:ext uri="{FF2B5EF4-FFF2-40B4-BE49-F238E27FC236}">
                <a16:creationId xmlns:a16="http://schemas.microsoft.com/office/drawing/2014/main" id="{2FB372BD-FF56-CFF2-F0A6-D614C7B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46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685783">
              <a:lnSpc>
                <a:spcPct val="9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2400"/>
              <a:t>R</a:t>
            </a:r>
            <a:r>
              <a:rPr sz="2400"/>
              <a:t>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34525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DE3988E-934D-45F4-A8E4-CC1DFE93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12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E1FCF1E4-D380-4888-A846-B2D168D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D7FCFDD9-1D1F-48B1-92AE-AD18010A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747F62E-F8CD-4CA6-B592-B591957F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E05C426-3346-45C6-85B3-20C3E2AF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Confirm subject-area priorities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4731FA-64F6-41C5-8019-587281BF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Select the first business domains and name accountable owners.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49BC23E0-7F8E-4593-9AA5-E6BF25E0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113CDD3-A6B2-4D21-BE27-9866F9ED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752453F-7A7C-4473-BBEB-FFEC0B6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4506E5E-CF19-443A-842D-A749B574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Publish consumption foundations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EAA017E-EF97-4AA3-9B0F-1047C19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Create conformed references, first metrics, naming and dictionary.</a:t>
            </a:r>
          </a:p>
        </p:txBody>
      </p:sp>
      <p:sp>
        <p:nvSpPr>
          <p:cNvPr id="13" name="Straight Connector 12">
            <a:extLst xmlns:a="http://schemas.openxmlformats.org/drawingml/2006/main">
              <a:ext uri="{FF2B5EF4-FFF2-40B4-BE49-F238E27FC236}">
                <a16:creationId xmlns:a16="http://schemas.microsoft.com/office/drawing/2014/main" id="{FFB38A3C-6DF7-4410-BD70-4E670C9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8BBCFDD-0FBE-48DB-9F83-FA30EAD5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B841093-2FEA-4429-BD66-457269B8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F88D702-A796-4725-9655-3A440D3E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Stand up control evidence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89B048-0FEE-4FA8-9573-8E083DEC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Implement lineage, quality tests, schema-change checks and security matrix.</a:t>
            </a:r>
          </a:p>
        </p:txBody>
      </p:sp>
      <p:sp>
        <p:nvSpPr>
          <p:cNvPr id="18" name="Straight Connector 17">
            <a:extLst xmlns:a="http://schemas.openxmlformats.org/drawingml/2006/main">
              <a:ext uri="{FF2B5EF4-FFF2-40B4-BE49-F238E27FC236}">
                <a16:creationId xmlns:a16="http://schemas.microsoft.com/office/drawing/2014/main" id="{4C81BE31-CE8E-462B-A05E-7969E60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244270B2-86D2-4414-BE22-ADD08F38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0F79974-6223-41F4-8A01-6D4D182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E86D945-F205-4691-81AB-4BD5B538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Deliver DA-200 pilots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ACF2B1-3D9C-4956-BDDF-6710F864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Use DA-200 to produce governed dashboards, reports or extensions.</a:t>
            </a:r>
          </a:p>
        </p:txBody>
      </p:sp>
      <p:sp>
        <p:nvSpPr>
          <p:cNvPr id="23" name="Straight Connector 22">
            <a:extLst xmlns:a="http://schemas.openxmlformats.org/drawingml/2006/main">
              <a:ext uri="{FF2B5EF4-FFF2-40B4-BE49-F238E27FC236}">
                <a16:creationId xmlns:a16="http://schemas.microsoft.com/office/drawing/2014/main" id="{278EBC06-83CB-46A6-AFA1-6BCE3F2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ACA77C94-856A-4000-B507-5291BBD1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18478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8704695-9A3C-4A4F-8080-EF4D2DB8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0097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276DCCF-12D4-4888-AEE9-661BB1D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76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2545"/>
                </a:solidFill>
              </a:defRPr>
            </a:pPr>
            <a:r>
              <a:rPr sz="1425" b="1">
                <a:solidFill>
                  <a:srgbClr val="0B2545"/>
                </a:solidFill>
              </a:rPr>
              <a:t>Operate the portfolio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9332B5C-7331-44C7-AD3F-08DDFFE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814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75467"/>
                </a:solidFill>
              </a:defRPr>
            </a:pPr>
            <a:r>
              <a:rPr sz="1200" b="0">
                <a:solidFill>
                  <a:srgbClr val="475467"/>
                </a:solidFill>
              </a:rPr>
              <a:t>Review adoption, quality, backlog and ownership every quarter.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E372609-E399-459A-819A-963BE420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Decision requested: endorse the governed consumption contract and nominate owners for the first subject area.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BF2D5FF-7D25-41D7-8A25-E41B3186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SW DATA MART  /  INTERNAL ARCHITECTURE PACK</a:t>
            </a:r>
          </a:p>
        </p:txBody>
      </p:sp>
      <p:sp>
        <p:nvSpPr>
          <p:cNvPr id="32" name="Title 23">
            <a:extLst xmlns:a="http://schemas.openxmlformats.org/drawingml/2006/main">
              <a:ext uri="{FF2B5EF4-FFF2-40B4-BE49-F238E27FC236}">
                <a16:creationId xmlns:a16="http://schemas.microsoft.com/office/drawing/2014/main" id="{2175A5C6-E8E2-79DB-69E5-8D6E957E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46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 defTabSz="685783">
              <a:lnSpc>
                <a:spcPct val="9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2400"/>
              <a:t>R</a:t>
            </a:r>
            <a:r>
              <a:rPr sz="2400"/>
              <a:t>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466048538"/>
      </p:ext>
    </p:extLst>
  </p:cSld>
</p:sld>
</file>

<file path=ppt/theme/theme1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2026-08-02T04:56:01.1460000Z</dcterms:created>
  <dcterms:modified xsi:type="dcterms:W3CDTF">2026-08-02T04:56:01.1460000Z</dcterms:modified>
</coreProperties>
</file>