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079fe653ca4b6f" /><Relationship Type="http://schemas.openxmlformats.org/officeDocument/2006/relationships/extended-properties" Target="/docProps/app.xml" Id="Rdd39a2a19e824b33" /><Relationship Type="http://schemas.openxmlformats.org/officeDocument/2006/relationships/officeDocument" Target="/ppt/presentation.xml" Id="R87e42d06aad140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7c7aa8396540d3"/>
  </p:sldMasterIdLst>
  <p:notesMasterIdLst>
    <p:notesMasterId xmlns:r="http://schemas.openxmlformats.org/officeDocument/2006/relationships" r:id="Rbfbdedc0242749ca"/>
  </p:notesMasterIdLst>
  <p:sldIdLst>
    <p:sldId xmlns:r="http://schemas.openxmlformats.org/officeDocument/2006/relationships" id="256" r:id="R912f2e66bc6640e4"/>
    <p:sldId xmlns:r="http://schemas.openxmlformats.org/officeDocument/2006/relationships" id="257" r:id="R2d7685098a404c7b"/>
    <p:sldId xmlns:r="http://schemas.openxmlformats.org/officeDocument/2006/relationships" id="258" r:id="R9eb65e694e084565"/>
    <p:sldId xmlns:r="http://schemas.openxmlformats.org/officeDocument/2006/relationships" id="259" r:id="Ra7f567c8fe3b4aba"/>
    <p:sldId xmlns:r="http://schemas.openxmlformats.org/officeDocument/2006/relationships" id="260" r:id="Re458fe8572784fd5"/>
    <p:sldId xmlns:r="http://schemas.openxmlformats.org/officeDocument/2006/relationships" id="261" r:id="R7515fe3a3ca645c2"/>
    <p:sldId xmlns:r="http://schemas.openxmlformats.org/officeDocument/2006/relationships" id="262" r:id="R770be0aa16ea424d"/>
    <p:sldId xmlns:r="http://schemas.openxmlformats.org/officeDocument/2006/relationships" id="263" r:id="R585562b8247245ab"/>
    <p:sldId xmlns:r="http://schemas.openxmlformats.org/officeDocument/2006/relationships" id="264" r:id="R9d4084d6830d471e"/>
    <p:sldId xmlns:r="http://schemas.openxmlformats.org/officeDocument/2006/relationships" id="265" r:id="R8d8b8aa262b54461"/>
    <p:sldId xmlns:r="http://schemas.openxmlformats.org/officeDocument/2006/relationships" id="266" r:id="R9523d6edd2c6423d"/>
    <p:sldId xmlns:r="http://schemas.openxmlformats.org/officeDocument/2006/relationships" id="267" r:id="R3b0ec764103046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b8d861efab45d6" /><Relationship Type="http://schemas.openxmlformats.org/officeDocument/2006/relationships/slideMaster" Target="/ppt/slideMasters/slideMaster1.xml" Id="R077c7aa8396540d3" /><Relationship Type="http://schemas.openxmlformats.org/officeDocument/2006/relationships/notesMaster" Target="/ppt/notesMasters/notesMaster1.xml" Id="Rbfbdedc0242749ca" /><Relationship Type="http://schemas.openxmlformats.org/officeDocument/2006/relationships/presProps" Target="/ppt/presProps.xml" Id="Rbc02e2e5c6e94223" /><Relationship Type="http://schemas.openxmlformats.org/officeDocument/2006/relationships/tableStyles" Target="/ppt/tableStyles.xml" Id="R19ab59cf178b42b6" /><Relationship Type="http://schemas.openxmlformats.org/officeDocument/2006/relationships/slide" Target="/ppt/slides/slide1.xml" Id="R912f2e66bc6640e4" /><Relationship Type="http://schemas.openxmlformats.org/officeDocument/2006/relationships/slide" Target="/ppt/slides/slide2.xml" Id="R2d7685098a404c7b" /><Relationship Type="http://schemas.openxmlformats.org/officeDocument/2006/relationships/slide" Target="/ppt/slides/slide3.xml" Id="R9eb65e694e084565" /><Relationship Type="http://schemas.openxmlformats.org/officeDocument/2006/relationships/slide" Target="/ppt/slides/slide4.xml" Id="Ra7f567c8fe3b4aba" /><Relationship Type="http://schemas.openxmlformats.org/officeDocument/2006/relationships/slide" Target="/ppt/slides/slide5.xml" Id="Re458fe8572784fd5" /><Relationship Type="http://schemas.openxmlformats.org/officeDocument/2006/relationships/slide" Target="/ppt/slides/slide6.xml" Id="R7515fe3a3ca645c2" /><Relationship Type="http://schemas.openxmlformats.org/officeDocument/2006/relationships/slide" Target="/ppt/slides/slide7.xml" Id="R770be0aa16ea424d" /><Relationship Type="http://schemas.openxmlformats.org/officeDocument/2006/relationships/slide" Target="/ppt/slides/slide8.xml" Id="R585562b8247245ab" /><Relationship Type="http://schemas.openxmlformats.org/officeDocument/2006/relationships/slide" Target="/ppt/slides/slide9.xml" Id="R9d4084d6830d471e" /><Relationship Type="http://schemas.openxmlformats.org/officeDocument/2006/relationships/slide" Target="/ppt/slides/slide10.xml" Id="R8d8b8aa262b54461" /><Relationship Type="http://schemas.openxmlformats.org/officeDocument/2006/relationships/slide" Target="/ppt/slides/slide11.xml" Id="R9523d6edd2c6423d" /><Relationship Type="http://schemas.openxmlformats.org/officeDocument/2006/relationships/slide" Target="/ppt/slides/slide12.xml" Id="R3b0ec764103046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7ed39400ba42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ee1769d8054f4e" /><Relationship Type="http://schemas.openxmlformats.org/officeDocument/2006/relationships/notesMaster" Target="/ppt/notesMasters/notesMaster1.xml" Id="R0729eb97f60148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70d001fca44fd7" /><Relationship Type="http://schemas.openxmlformats.org/officeDocument/2006/relationships/notesMaster" Target="/ppt/notesMasters/notesMaster1.xml" Id="Rf0c41b852c784c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9c8b74913a4617" /><Relationship Type="http://schemas.openxmlformats.org/officeDocument/2006/relationships/notesMaster" Target="/ppt/notesMasters/notesMaster1.xml" Id="Rd2b72abb8aad42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d4ce64506d4863" /><Relationship Type="http://schemas.openxmlformats.org/officeDocument/2006/relationships/notesMaster" Target="/ppt/notesMasters/notesMaster1.xml" Id="R5edfc79e6ca94c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17aed32f96446c" /><Relationship Type="http://schemas.openxmlformats.org/officeDocument/2006/relationships/notesMaster" Target="/ppt/notesMasters/notesMaster1.xml" Id="R5980ccc2ab1445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e043cb538d4545" /><Relationship Type="http://schemas.openxmlformats.org/officeDocument/2006/relationships/notesMaster" Target="/ppt/notesMasters/notesMaster1.xml" Id="R34588652fa3245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86b43ca5ad44f1" /><Relationship Type="http://schemas.openxmlformats.org/officeDocument/2006/relationships/notesMaster" Target="/ppt/notesMasters/notesMaster1.xml" Id="R50f5cb7f47474f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bfbffc3289467f" /><Relationship Type="http://schemas.openxmlformats.org/officeDocument/2006/relationships/notesMaster" Target="/ppt/notesMasters/notesMaster1.xml" Id="R6cef60f4d8a049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68de23ddd14da1" /><Relationship Type="http://schemas.openxmlformats.org/officeDocument/2006/relationships/notesMaster" Target="/ppt/notesMasters/notesMaster1.xml" Id="R1923527db8fd45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af8a54a67a45bf" /><Relationship Type="http://schemas.openxmlformats.org/officeDocument/2006/relationships/notesMaster" Target="/ppt/notesMasters/notesMaster1.xml" Id="Ra955db5453e849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a090e092fa3400d" /><Relationship Type="http://schemas.openxmlformats.org/officeDocument/2006/relationships/notesMaster" Target="/ppt/notesMasters/notesMaster1.xml" Id="Raf5439f72e5d4d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3d84df6479407d" /><Relationship Type="http://schemas.openxmlformats.org/officeDocument/2006/relationships/notesMaster" Target="/ppt/notesMasters/notesMaster1.xml" Id="Ra58583357a9142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e95924388d41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cc04cc45b34900" /><Relationship Type="http://schemas.openxmlformats.org/officeDocument/2006/relationships/slideLayout" Target="/ppt/slideLayouts/slideLayout1.xml" Id="R342ae54ab1b948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2ae54ab1b948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b95a06e9b42a4" /><Relationship Type="http://schemas.openxmlformats.org/officeDocument/2006/relationships/notesSlide" Target="/ppt/notesSlides/notesSlide1.xml" Id="R8417ba837dfb49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ebdf16b8c4fb3" /><Relationship Type="http://schemas.openxmlformats.org/officeDocument/2006/relationships/notesSlide" Target="/ppt/notesSlides/notesSlide2.xml" Id="R9df2b93649f546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1c3f994264651" /><Relationship Type="http://schemas.openxmlformats.org/officeDocument/2006/relationships/notesSlide" Target="/ppt/notesSlides/notesSlide3.xml" Id="R95ef8aee691b40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a3e30db9e4300" /><Relationship Type="http://schemas.openxmlformats.org/officeDocument/2006/relationships/notesSlide" Target="/ppt/notesSlides/notesSlide4.xml" Id="Rae9f2073d5164a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debd2759d4093" /><Relationship Type="http://schemas.openxmlformats.org/officeDocument/2006/relationships/notesSlide" Target="/ppt/notesSlides/notesSlide5.xml" Id="R4556ecf27a6b4f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1b0eb34114ecf" /><Relationship Type="http://schemas.openxmlformats.org/officeDocument/2006/relationships/notesSlide" Target="/ppt/notesSlides/notesSlide6.xml" Id="Ra85e6bed7dc74e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7ac64e45b4630" /><Relationship Type="http://schemas.openxmlformats.org/officeDocument/2006/relationships/notesSlide" Target="/ppt/notesSlides/notesSlide7.xml" Id="Rd291299f1c634d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67de88bbc47a8" /><Relationship Type="http://schemas.openxmlformats.org/officeDocument/2006/relationships/notesSlide" Target="/ppt/notesSlides/notesSlide8.xml" Id="Rd451d41b1e1746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c6307d80c4afc" /><Relationship Type="http://schemas.openxmlformats.org/officeDocument/2006/relationships/notesSlide" Target="/ppt/notesSlides/notesSlide9.xml" Id="R0f6bd6c0ddd64a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0aa18b7624fa0" /><Relationship Type="http://schemas.openxmlformats.org/officeDocument/2006/relationships/notesSlide" Target="/ppt/notesSlides/notesSlide10.xml" Id="R933b09ca12c046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26503ba1d460f" /><Relationship Type="http://schemas.openxmlformats.org/officeDocument/2006/relationships/notesSlide" Target="/ppt/notesSlides/notesSlide11.xml" Id="Rd6002a0db48f46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3965c51614c1c" /><Relationship Type="http://schemas.openxmlformats.org/officeDocument/2006/relationships/notesSlide" Target="/ppt/notesSlides/notesSlide12.xml" Id="R88183cd150354b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660EE-8296-4CAB-B8E6-79C5C43D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75467"/>
                </a:solidFill>
              </a:defRPr>
            </a:pPr>
            <a:r>
              <a:rPr sz="2100" b="0">
                <a:solidFill>
                  <a:srgbClr val="475467"/>
                </a:solidFill>
              </a:rPr>
              <a:t>SW Data Mart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5E90D-19AE-4A7A-AE32-416527F8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685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0B2545"/>
                </a:solidFill>
              </a:defRPr>
            </a:pPr>
            <a:r>
              <a:rPr sz="4500" b="1">
                <a:solidFill>
                  <a:srgbClr val="0B2545"/>
                </a:solidFill>
              </a:rPr>
              <a:t>A governed APAC analytics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56071-E12C-4236-AF35-CFC4AF3F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590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75467"/>
                </a:solidFill>
              </a:defRPr>
            </a:pPr>
            <a:r>
              <a:rPr sz="1950" b="0">
                <a:solidFill>
                  <a:srgbClr val="475467"/>
                </a:solidFill>
              </a:rPr>
              <a:t>Architecture, data lineage, semantic model and delivery standards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0ED52-DF09-4718-A022-CC024192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38200"/>
            <a:ext cx="3810000" cy="50673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A818B-E937-48EF-95C9-5BAE5603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240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B2545"/>
                </a:solidFill>
              </a:defRPr>
            </a:pPr>
            <a:r>
              <a:rPr sz="2100" b="1">
                <a:solidFill>
                  <a:srgbClr val="0B2545"/>
                </a:solidFill>
              </a:rPr>
              <a:t>EDI Gold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B49EA-F98A-4567-AFCD-223F3F10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28875"/>
            <a:ext cx="2476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Refined / Sealer / Top Coat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RC  →  SC  →  TC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5D57E-0ACF-4C30-9D07-AF7D7F90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9575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Power BI • Tableau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Reports • Extensions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91908-44E1-47BE-94A5-14D585F0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586723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1D0211-1750-4640-AF76-CF2C4187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APAC consumption with a stable upstream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3E5C4-94AD-4765-81AC-43EE44F6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33D2B-31AF-4EBD-9C77-B25C2891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C128A-FC1A-4D31-A83F-CA3615F3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192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75467"/>
                </a:solidFill>
              </a:defRPr>
            </a:pPr>
            <a:r>
              <a:rPr sz="1800" b="0">
                <a:solidFill>
                  <a:srgbClr val="475467"/>
                </a:solidFill>
              </a:rPr>
              <a:t>Global EDI owns the Medallion 3-tier warehouse, Gold View and upstream ETL. APAC owns only local consumption logic and downstream stability.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79E26-86BC-4009-AB6D-49DE71BA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66950"/>
            <a:ext cx="32575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B6706-5929-43E7-BC8A-B240F1E9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6695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9FB69-0402-4736-9D32-656B5CCD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Global EDI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2897A-9ED4-4180-8908-F1712D0A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Global EDI Medallion warehouse publishes the Gold View as the source contract. APAC does not duplicate upstream ETL.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9345C-D194-4C51-9A0A-3DC332C5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32575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DECE19-AF6B-4B64-A72A-358769B9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49311-D3D9-48FC-B4C7-A8268BBE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38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APAC consumption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1B18B-22DF-45BA-BA9F-FE5D1DC5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987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Integrates, corrects and semantic-models data through clearly owned coats.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D8480-D5E3-4B11-AABA-9E42251E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66950"/>
            <a:ext cx="32575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BFF795-2C6A-4B21-A261-21F72426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6695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9ECA91-C6E5-4EDB-A4DE-FA5024DE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38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Consumers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06B732-F283-40D7-93FC-7862A83B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987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Use approved consumption views or semantic models in BI, reports and extensions.</a:t>
            </a:r>
          </a:p>
        </p:txBody>
      </p:sp>
      <p:cxnSp>
        <p:nvCxnSpPr>
          <p:cNvPr id="91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676650" y="36004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cxnSp>
        <p:nvCxnSpPr>
          <p:cNvPr id="92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715250" y="36004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A933D1-56E3-48A5-A909-1A3F7ED8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673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Result: faster local change, traceable quality controls, and insulation from unexpected upstream schema changes.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C91F54-4F18-4C2A-A229-E48CC450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13570888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82CAB9-5F50-43E8-BD4D-D1DE49A2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From Global EDI Gold View to governed APAC outputs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D642B-92E2-44B5-9BD3-3CE2DB30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AF3FF-4873-4DC3-A250-848C9431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321EA-4B5B-47EE-AE92-62955807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0985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1D72F-6F96-4B06-8C39-0B5C24EB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09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7E927-232A-42D1-AEC8-09E02B5C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EDI Gold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28E54-1FC0-41EA-8515-66D061DD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52775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Upstream curated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04497-4009-46CD-BF4E-B9EC8F02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0985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070EB-3FDE-4BF9-A06C-A72CE667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09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DD9B9-AB02-4380-A5F6-434B639D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813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Refined Coat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0C08F-5249-4706-9C86-E1B905E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52775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RC · Ingest + integrate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37155E-81CA-4AC6-95F0-566EAF61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985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1CD413-BFF7-4CC4-8F2A-3520A2A9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9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A1B47-18DA-48A9-A76C-DCC49292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813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Sealer Coat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5DED8B-5290-4EC1-AB96-34347FDC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52775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SC · Correct + enrich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D5C98-47EF-4AA7-952D-1A1A22D7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0985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BAA4A-5621-4A87-92D5-6897F682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09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1E79A5-08E6-4D33-92F5-33BB8DCD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813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Top Coat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D25875-E370-40CE-9472-10227383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52775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TC · Semantic serving views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E425B-2EC1-4494-955D-17A5E4C3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0985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5F87D4-156E-4CFA-8C81-3A3A7258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09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0D39D1-998C-4EF1-AFF8-E7A0CEE2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813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Analytics outputs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3ADFC4-4AD7-454E-809F-7E17E1B5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52775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Dashboards / reports / extensions</a:t>
            </a:r>
          </a:p>
        </p:txBody>
      </p:sp>
      <p:cxnSp>
        <p:nvCxnSpPr>
          <p:cNvPr id="134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66950" y="34671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cxnSp>
        <p:nvCxnSpPr>
          <p:cNvPr id="135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533900" y="34671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cxnSp>
        <p:nvCxnSpPr>
          <p:cNvPr id="136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800850" y="34671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cxnSp>
        <p:nvCxnSpPr>
          <p:cNvPr id="137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067800" y="34671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FCBF5D-4F7E-4F4C-AF0D-923C3C6A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435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475467"/>
                </a:solidFill>
              </a:defRPr>
            </a:pPr>
            <a:r>
              <a:rPr sz="1500" b="0">
                <a:solidFill>
                  <a:srgbClr val="475467"/>
                </a:solidFill>
              </a:rPr>
              <a:t>Sealer Coat is optional: add it only when documented APAC cleansing, mapping or enrichment requires it.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DE2603-392B-482C-869F-E0AF0732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2549301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20CE56-E618-476C-BC5F-21F276BB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Data lineage is an explicit, testable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BFF45-B4C9-4C97-86AB-D65D652B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990DD-66CD-4578-BFCB-9325CE8A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5A5CD-6E6A-47EF-A52C-312CF417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47800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F1CCC-A995-49C3-886F-BE6137B1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2C0CA-5D3C-42A5-B3DD-16D972BE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0D2A4-A203-4C82-8145-0CDD41B6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621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Artefact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C2584-7CDC-40EF-B36D-E64F3297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447800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DB215-9E95-4F9D-844A-3FA98FAD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562100"/>
            <a:ext cx="585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Required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6DE6A-A8CE-49DB-9BE7-14258F75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0738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D8A1B6-3126-4CC2-A62E-FBF27993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5038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Business 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96499-EBD1-4B6B-B45F-E4B26660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90738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A98B0-3B51-4BE3-B017-F803C5EB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05038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Oracle EBS / boundary systems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F1468-B8B8-43CF-B599-41FCB23A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090738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EDBFB1-FA11-4410-8426-D2B5A25C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205038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Source document, module and extraction timestamp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00772B-E0C6-40A1-98F6-0EA57873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33675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8BDAD-5DDD-4C13-914A-3BCDFF4A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47975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Curated entry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8A1A2E-FFEA-4412-BDF6-64B272C0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33675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15583E-AE1E-4011-BABE-36C4FB72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47975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EDI Gold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7E1992-F292-4236-96AC-B8D8D7EE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733675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4F2BC7-1A69-4B62-B1A2-CE7C874E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847975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Approved upstream object and schema version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26724C-755C-4092-9E02-1E9FE1E3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76613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2FE483-576F-4E8B-93F0-3D6EC38C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90913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APAC consumption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83581B-3FD3-402F-AD88-3699139D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76613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0C7E6E-DA1E-4402-91BB-E2BBD616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90913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RC → SC → TC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F48C3A-F717-4F8C-991B-C879965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376613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806CE8-7889-41E3-9EF6-763D3E91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490913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Mapping, rule version, batch, DQ results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FECA5F-5DFC-493E-9CF1-268782BD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9550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EF9EDF-7229-4AE5-8983-0CB8599C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Semantic model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DF66A6-016A-4AB7-814B-0BBF6C25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19550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9CB8BE-2AED-4CAC-9B2E-21BB70CC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33850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Power BI / Tableau model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2C83C0-C5B1-4236-B3B9-5AE5F60E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019550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972EA7-7A6D-411E-921F-6E74D681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133850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Relationships, measures, security roles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890BD6-91FF-4F70-81FB-EDB15F1A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62488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C42D69-963F-4E0F-835C-ED64BE8E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76788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Consumer output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FF2020-4B5C-42E1-A706-08F3B259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62488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33E762-4497-4BC8-9CF7-EB096DB7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76788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IV / RP / EX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55F70D-6B20-4593-A214-F3FDB054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662488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3F376C-9CA3-4C4E-BB2F-F176603D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776788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Dashboard, report or extension ID and release version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4796B3-F762-4BD8-9BF3-CDF34129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673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Lineage record must include: source-to-target mapping • business owner • technical owner • grain • refresh SLA • acceptance evidence.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CA5DEA-A2C4-46E9-A009-DB7584DF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6170206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251A7C-C6C2-45B2-8268-7C0F0C00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Each Coat has a clear APAC consumption purpose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5B9B6-2E4F-456B-A2B3-B96D1C3F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2B14A-CDCC-436B-90A7-4459B029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B5F3B-E38B-4AEC-BA5D-1A48BDED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333375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BD65C-CDD7-4A02-8891-197D25DE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58F99-08FE-498F-ABE9-362ED0DF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1 / REFINED COAT (RC)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1F2F1-6FCA-48C0-9534-ED2D760F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24075"/>
            <a:ext cx="29337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Physical tables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Ingest EDI Gold View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Integrate related data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Preserve source keys + audit columns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Establish repeatable load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0350D-CD30-4BB3-A935-EB48AF31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333375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569F0-792B-467C-AD48-77F89F35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2E2CF-4132-4662-BF2C-C3C53D9B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526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2 / SEALER COAT (SC)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7DF99B-58C1-4B0C-95E0-B988A128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24075"/>
            <a:ext cx="29337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Table or 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Correct APAC-specific logic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Apply mappings / enrichment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Record rule owner + version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Use only when complexity justifies 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80555-0451-4987-BD37-472A218E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81150"/>
            <a:ext cx="333375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A6454-F95D-4415-8BD9-856CAAF1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811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D6F1F-0F42-41B8-ADB7-D40AA7FB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526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3 / TOP COAT (TC)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084B9-EBD8-435B-8D20-5647EC58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24075"/>
            <a:ext cx="29337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Views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Publish star-model semantics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Stabilize consumer contract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Expose governed KPIs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</a:t>
            </a:r>
            <a:r>
              <a:rPr sz="1350" b="0">
                <a:solidFill>
                  <a:srgbClr val="475467"/>
                </a:solidFill>
              </a:rPr>
              <a:t>Be the standard consumption source</a:t>
            </a:r>
          </a:p>
        </p:txBody>
      </p:sp>
      <p:cxnSp>
        <p:nvCxnSpPr>
          <p:cNvPr id="86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52850" y="3181350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cxnSp>
        <p:nvCxnSpPr>
          <p:cNvPr id="87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762875" y="3181350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648B21-9C22-4073-A773-D9D1459B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05450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Physical naming: SW_APAC_RC / SW_APAC_SC / SW_APAC_TC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7720D8-6348-4194-AF68-2C532B75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1448673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CD2EE1-A7A3-4A47-B750-0C8B96B5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Top Coat uses a business-friendly star schema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6A4CE-2307-41FA-B7CA-E6F74449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0CBD7-01A6-4665-BE79-03F91CE0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9EBAF-6401-4243-A224-CAAF5BD4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47950"/>
            <a:ext cx="3429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094E2-0BF4-4B4D-B87F-7B13678D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479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97E74-B6BD-4955-A28D-D21617E7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194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Metric / MET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60B5B-4C55-49C0-BCBD-1C1A4F21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90875"/>
            <a:ext cx="3028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One declared event or snapshot grain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Example: order line, inventory item-location-day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7CA14-862E-4DD8-8735-FCE5EB2A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6210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D19C4-1ED5-441A-9BCB-6F242408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621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98B1F-508C-4CCD-8C86-3C40D7BC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335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Reference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Customer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242015-474A-4A78-B3A6-783FB614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050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Conformed business context</a:t>
            </a:r>
          </a:p>
        </p:txBody>
      </p:sp>
      <p:cxnSp>
        <p:nvCxnSpPr>
          <p:cNvPr id="122" name=""/>
          <p:cNvCxnSpPr>
            <a:stCxn xmlns:a="http://schemas.openxmlformats.org/drawingml/2006/main" id="8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095750" y="2057400"/>
            <a:ext cx="285750" cy="1247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CFB1C-2B9D-4A14-B05D-5F47827B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6210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FB7583-6412-4067-99A2-8BBC692D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621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F3AA7-BC3C-446C-9CE2-110C4B70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335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Reference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Product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9061CF-A243-4FC5-8E52-94D88858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050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Conformed business context</a:t>
            </a:r>
          </a:p>
        </p:txBody>
      </p:sp>
      <p:cxnSp>
        <p:nvCxnSpPr>
          <p:cNvPr id="127" name=""/>
          <p:cNvCxnSpPr>
            <a:stCxn xmlns:a="http://schemas.openxmlformats.org/drawingml/2006/main" id="13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7810500" y="2057400"/>
            <a:ext cx="476250" cy="1247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76F55F-4576-4621-867F-EC4FC5EA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8150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59ABCF-83A6-4EA5-A623-DFC52573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815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9E4A0F-201C-4969-8D22-1A944D22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529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Reference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A0C71-7348-4598-9197-64AFF0BA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244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Conformed business context</a:t>
            </a:r>
          </a:p>
        </p:txBody>
      </p:sp>
      <p:cxnSp>
        <p:nvCxnSpPr>
          <p:cNvPr id="132" name=""/>
          <p:cNvCxnSpPr>
            <a:stCxn xmlns:a="http://schemas.openxmlformats.org/drawingml/2006/main" id="18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4095750" y="3305175"/>
            <a:ext cx="285750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E7F562-357E-45F6-932B-E43CA62C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8150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EE4FC5-2415-40C5-B99C-75FD7357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815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B07092-D6BD-4DD1-8394-1FBFED55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529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Reference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Organization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54E204-4EB1-4BAA-A984-0B10F5AD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244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Conformed business context</a:t>
            </a:r>
          </a:p>
        </p:txBody>
      </p:sp>
      <p:cxnSp>
        <p:nvCxnSpPr>
          <p:cNvPr id="137" name=""/>
          <p:cNvCxnSpPr>
            <a:stCxn xmlns:a="http://schemas.openxmlformats.org/drawingml/2006/main" id="23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 flipV="1">
            <a:off x="7810500" y="3305175"/>
            <a:ext cx="476250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FDDCE2-2EA8-4147-9E2B-A5F4CC86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435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Use Link / LNK only for legitimate many-to-many relationships. Use Rollup / RUP only for approved reusable aggregation or performance needs.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9365C0-5663-4A76-86D0-A5B6085C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18874881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6BC0EA-33B0-44F3-92A2-ADDAB39F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Four object types make the model readable and auditable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4DA4B-52CE-44BB-8133-D04DC957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B25B8-5321-4278-B3CB-C44640D4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F6253-394C-48BE-8783-2A69DFC5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478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95F2B-693D-45FE-8031-6EDB5D81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D6878-2B72-40AF-9EC1-22042193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71219-E3E2-49CF-84DA-80E763E1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621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Artefact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31392-16FE-454D-87E6-18AF26BE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4478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7B33C-029F-4213-A2AE-5B3A6395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562100"/>
            <a:ext cx="585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Required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16DB1-AA29-460A-9563-82201095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717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A96A1-FB73-4CF0-8C1A-866595EB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REF  Reference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FD89C-94CD-4149-A997-7ABF72BE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717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6CB0A-D96F-49DE-A37D-E1E4F187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86000"/>
            <a:ext cx="2867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Business context; stable descriptive entity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9BE2F-1158-4181-A87F-136D8375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1717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BE550B-D1F4-4C3A-90F1-9A2A020C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286000"/>
            <a:ext cx="581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One row per entity/version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AA24A8-F9EE-4C01-BC02-2D9CA5B2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956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B45465-9AFF-486A-AA73-176620B4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MET  Metric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648E2D-7741-436E-9807-C15576EE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956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949F3-B9AB-487E-8FEC-C65C6A5C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09900"/>
            <a:ext cx="2867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Business event or periodic / accumulating snapshot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1A2D7D-37D3-47C7-81F3-EC1F7D22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8956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3CC6D0-8A67-438A-9A46-11ED508B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009900"/>
            <a:ext cx="581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One row per declared grain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B07B2B-79F2-4367-B49C-18289F70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5A1273-8E02-4C89-8B7D-2FB9E520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LNK  Link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FB382E-466E-4EFE-A82D-B90BCF95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195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3FDDC1-C19C-48D5-944D-11A612F8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33800"/>
            <a:ext cx="2867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Many-to-many association with explicit allocation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5DBDB0-1193-4015-8DEC-967221E7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6195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9642F5-B93E-468B-8090-2A055BE6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733800"/>
            <a:ext cx="581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One row per association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D25032-326E-45C1-B791-4B7453B4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434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09CE32-3B69-402E-8400-C74B1571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RUP  Rollup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7016F5-E0B4-4638-95C4-EA44B702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434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0CFF89-09E6-4856-A410-8069135A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57700"/>
            <a:ext cx="2867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Reusable approved aggregation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333EEC-4768-46D0-905C-F36CA737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3434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C45159-1534-436F-9794-B8C9A60F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457700"/>
            <a:ext cx="581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One row per aggregation grain + period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9982D6-32DE-4392-831A-5684618E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Name pattern: SW_APAC_&lt;RC|SC|TC&gt;_&lt;SUBJECT&gt;_&lt;OBJECT&gt;_&lt;REF|MET|LNK|RUP&gt;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22A5E5-C297-4F76-8E42-DCA6A2D1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856860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2E0E0F-2247-4EE3-90EC-6CE478C0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WHO and WHEN belong in the 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A6D6A-CCD6-4131-9DA9-D88323B2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D33C6-C8FA-4988-AD2C-DAD1AE76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AD573-5E8D-403E-BEF9-6455CEA2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57350"/>
            <a:ext cx="2476500" cy="31051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76E2C-9172-4434-BD88-039340BB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573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F2F32-96A9-4CFE-B00B-9DE6CEB4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59C4D-0A0A-49C1-BA4B-862E536B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0275"/>
            <a:ext cx="20764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Surrogate key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Natural key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Source system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Record hash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FE0B3-FCDD-4830-AF6F-071F75B3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57350"/>
            <a:ext cx="2476500" cy="31051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95C8C-6627-4B64-99CD-6C8664B3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573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69C45-31BB-4F9C-BDFE-B594984A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288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WHO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7E2FCD-2762-47A0-8020-7A94B73B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00275"/>
            <a:ext cx="20764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Created by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Updated by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Owner organization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Data steward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0AF97-FB77-458C-9700-9E482FC5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57350"/>
            <a:ext cx="2476500" cy="31051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E89117-731F-4BAD-9CD8-C7116944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573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573A2-4CF0-4C01-8C68-C1D09E03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288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WHEN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0A9582-B0D5-4985-8A05-F9972796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0275"/>
            <a:ext cx="20764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Effective from/to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Source extract time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Load time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As-of 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B669B-D1A2-48B6-A084-7E8DD163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57350"/>
            <a:ext cx="2476500" cy="31051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284756-1819-4E35-99C2-34C5CF84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573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C340C5-F2F7-46DF-AE65-CCC07782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288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CONTROL + SECURITY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7EDD49-46EC-4331-8FB8-D51D5447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00275"/>
            <a:ext cx="20764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Current/deleted flags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DQ status / exception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Batch ID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Legal entity / region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486D62-5637-4FA6-92E8-E3C9322C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Object-specific additions: REF = entity attributes + hierarchy • MET = all dimension keys + measures • LNK = left/right keys + allocation • RUP = period + aggregation rule version.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C568D6-A11F-4E15-9192-C0DA33F0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5865742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269884-C6A6-4FA4-A67A-58737A96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Four delivery classes share one semantic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AB113-3C80-4762-9518-FFEF1E21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8DF4F-12EA-4A21-A2DB-B6F7950B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9809A-82DD-4B7B-97B2-0AD4A038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44291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A755A-6D86-4304-9A65-C63ADC96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2F2A7-FE7A-4ACD-AA71-1803E734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457325"/>
            <a:ext cx="4029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TOP COAT + SEMANTIC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93573-0D78-475A-BA2B-C373F5CF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828800"/>
            <a:ext cx="4029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Stable source contract, conformed references, governed measures and security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BB71C-B482-45FC-8145-46F3451C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67125"/>
            <a:ext cx="2476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27A27-8261-46E1-BED9-1E519A91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67125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9460E-774D-4D86-8FE2-9DD6FFAD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DA  /  Data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661F4-FD05-49EF-A0BB-8602BF1C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00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Lineage, model, dictionary</a:t>
            </a:r>
          </a:p>
        </p:txBody>
      </p:sp>
      <p:cxnSp>
        <p:nvCxnSpPr>
          <p:cNvPr id="122" name=""/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1657350" y="2276475"/>
            <a:ext cx="4433888" cy="1390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102E3A-BB02-44D9-88EA-33E75337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67125"/>
            <a:ext cx="2476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F345E-A34A-401B-A6A4-9219E717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67125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0C8DA-2B1B-45B9-864E-E9E05CF5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IV / Visualisation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118174-F1A5-466F-8BC5-3BA6F245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100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Power BI / Tableau dashboards</a:t>
            </a:r>
          </a:p>
        </p:txBody>
      </p:sp>
      <p:cxnSp>
        <p:nvCxnSpPr>
          <p:cNvPr id="127" name=""/>
          <p:cNvCxnSpPr>
            <a:stCxn xmlns:a="http://schemas.openxmlformats.org/drawingml/2006/main" id="4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4514850" y="2276475"/>
            <a:ext cx="1576388" cy="1390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C1ED5-A3E6-43BA-B7D2-9D7AB807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67125"/>
            <a:ext cx="2476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BC7C7-31B1-4FE3-9165-DD959B2D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67125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A8101-8244-43AC-B84C-087D7098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RP  /  Report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A23E42-9571-431A-A8A7-9736F4E1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100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Periodic + historical reports</a:t>
            </a:r>
          </a:p>
        </p:txBody>
      </p:sp>
      <p:cxnSp>
        <p:nvCxnSpPr>
          <p:cNvPr id="132" name=""/>
          <p:cNvCxnSpPr>
            <a:stCxn xmlns:a="http://schemas.openxmlformats.org/drawingml/2006/main" id="4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6091238" y="2276475"/>
            <a:ext cx="1281113" cy="1390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46DC29-8DBA-4F50-9997-89F77473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67125"/>
            <a:ext cx="2476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BEDC06-6469-49C2-984E-649EB118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67125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7BDCD-6D77-4201-B9CA-F7C656A6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EX  /  Extension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439037-57A1-4141-A071-306954E8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100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Excel, RLS, DAX, sync, automation</a:t>
            </a:r>
          </a:p>
        </p:txBody>
      </p:sp>
      <p:cxnSp>
        <p:nvCxnSpPr>
          <p:cNvPr id="137" name=""/>
          <p:cNvCxnSpPr>
            <a:stCxn xmlns:a="http://schemas.openxmlformats.org/drawingml/2006/main" id="4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6091238" y="2276475"/>
            <a:ext cx="4138613" cy="1390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F87C96-51E3-44B8-96AC-2193D8E1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Validation is a control plane across every class: definitions • reconciliation • security • release evidence.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BF62EF-7C77-4EDD-B938-499917E2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7883008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BA06E6-C826-4907-8A46-D2D5397D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A simple documentation pack makes delivery repeatable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1F7AF-6B6F-47B1-A0F0-AF9C6B02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1ED6C-E049-4F8B-B54F-48E4716B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76CD3-86A4-4152-8450-07650F20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47800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D42DB-DDD6-480B-98D8-3CAA7C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C0C1E-E410-48E5-B9E9-18612B3B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C0E6B-7BA6-4419-885C-F8660FD9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621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Artefact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46901-4A14-49F7-A827-8F1F3354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447800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EDE34-5FD0-4824-9298-2481EA41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562100"/>
            <a:ext cx="585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Required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060B6-AEAB-4DB8-9945-F8439E37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81225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4EBA2-6BA2-4805-BC43-88723BE7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95525"/>
            <a:ext cx="1962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DA-001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6DF0A-BD73-4D58-BCEF-EA5AABDF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81225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B554D-25D1-4FE9-B9B4-FF7ECE7D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95525"/>
            <a:ext cx="2867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Data Architecture Blueprint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C5C07-16EA-4B8B-B081-9DE4B67C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181225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69656-FFBC-4153-A691-493C8C2D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295525"/>
            <a:ext cx="581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Architecture, lineage, semantic model, data dictionary, mapping and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02171-7A94-4C4B-8F7B-AD519622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14650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905193-4E4B-4A26-9174-5876273F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1962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IV-001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36A220-BA8A-4CE2-9DCD-F95DEBF4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14650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0EB478-893A-4E37-BACB-E346B32C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28950"/>
            <a:ext cx="2867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Dashboard Design Standard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58CEC5-10CE-4811-838D-5AD95BF4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914650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20FE53-514C-4B04-9C6B-7B775A3F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028950"/>
            <a:ext cx="581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Decision questions, KPI catalogue, page design, RLS and UAT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2894BB-4B71-4B1C-B10E-20E8A8D6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48075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82E1C0-7193-4A1D-B78B-370C6793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1962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RP-001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61D302-E471-45BA-BC2B-7ADA209E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48075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9D8B8E-5305-4F86-A1F0-B33E1141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62375"/>
            <a:ext cx="2867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Structured Report Design Standard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2D2227-543D-4700-AD95-255C18BC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648075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551D74-9211-4331-813C-69FF704F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762375"/>
            <a:ext cx="581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Report grain, historical snapshots, Finance override, archive and sign-off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42A97E-6B0E-4F06-BFC1-A24791A6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81500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7ECAA5-6CB3-4C6C-AE8F-397ECAC3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1962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EX-001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243D3E-889A-44DB-A7E1-5D8E00B4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81500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966510-4C46-4B1E-B39C-860B34C2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95800"/>
            <a:ext cx="2867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Extension Design Standard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0A5258-0451-4AA7-B281-BF4DCC8D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381500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614DBD-6F72-49AD-8462-F0F102FC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495800"/>
            <a:ext cx="581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Interface/data contract, security, operations, recovery and lifecycle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7CB9C3-453D-4FE8-A482-6139398B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5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Every record also carries: object ID • business owner • technical owner • version/status • review date • related object IDs.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D806F7-CA9E-46DB-A929-FFE25EDD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5178127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EF2E5E-136A-4DD5-8CB8-2958B192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Governance assigns decisions to the right people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CBED8-2167-4372-8E78-9EC26FB7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54C78-49AB-4A34-BCAA-3253C700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DF199-2C6F-4A3E-9CB6-062B05AC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EC1B6-1539-4347-A216-DB3FAD03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B2849-3399-4895-98E4-4B5B8C2E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PMO Manager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4A061-22E6-451A-B926-418BE6E8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57425"/>
            <a:ext cx="2076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Set priorities, approve scope and KPI ownership, resolve cross-team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8DE1B-BCD2-487F-A165-6A8B928F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14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70B63-0AC3-4E1B-B41B-8B98FFC5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145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BD0A2-4364-4168-BF7D-F4FF3399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85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ERP Consultant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350FC-1016-4537-BB75-88F91ED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57425"/>
            <a:ext cx="2076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Define process truth, field meaning, exceptions and acceptance scenarios.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3FBFE-77A9-43B3-AA81-B4658BBA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14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AED61-7AB2-40D6-8B87-07DCE465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145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5E7A0-65EE-4979-81E3-83EBDEDE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85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Technical Analyst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6A3DA9-4D4E-4A1D-BDA6-5C0A3849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57425"/>
            <a:ext cx="2076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Maintain DA/IV/RP/EX design, technical validation and support evidence.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4A4CA6-B1AA-4980-959C-8D368785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14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8E1977-CB70-449A-857B-96A86DEE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145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520E82-7884-45B5-A74D-8CCEAEDB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85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End User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0A7B9E-8625-424B-A356-FE9E9DAD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57425"/>
            <a:ext cx="2076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Define expected result, validate UAT and accept the delivered output.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791C06-8C1B-4727-BBEF-A6ED0B1A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334000"/>
            <a:ext cx="1133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Change flow: request → impact assessment → design approval → build → reconcile → UAT → release → quarterly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D2C6E6-6AB1-4559-92A1-6A7F8A75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1345252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51645A-072F-4271-9499-84C0C1DF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Recommended next steps to scale governed consumption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3988E-934D-45F4-A8E4-CC1DFE93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CF1E4-D380-4888-A846-B2D168D8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CFDD9-1D1F-48B1-92AE-AD18010A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8478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7F62E-F8CD-4CA6-B592-B591957F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0097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5C426-3346-45C6-85B3-20C3E2AF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876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Confirm subject-area priorities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731FA-64F6-41C5-8019-587281BF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581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Select the first business domains and name accountable owners.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C23E0-7F8E-4593-9AA5-E6BF25E0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193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3CDD3-A6B2-4D21-BE27-9866F9ED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478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2453F-7A7C-4473-BBEB-FFEC0B6C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097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506E5E-CF19-443A-842D-A749B574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876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Publish consumption foundations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A017E-EF97-4AA3-9B0F-1047C19D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581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Create conformed references, first metrics, naming and dictionary.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38A3C-6DF7-4410-BD70-4E670C97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193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BCFDD-0FBE-48DB-9F83-FA30EAD5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478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841093-2FEA-4429-BD66-457269B8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097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88D702-A796-4725-9655-3A440D3E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76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Stand up control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89B048-0FEE-4FA8-9573-8E083DEC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581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Implement lineage, quality tests, schema-change checks and security matrix.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81BE31-CE8E-462B-A05E-7969E604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193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4270B2-86D2-4414-BE22-ADD08F38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8478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F79974-6223-41F4-8A01-6D4D1829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0097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86D945-F205-4691-81AB-4BD5B538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876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Deliver IV / RP / EX pilots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CF2B1-3D9C-4956-BDDF-6710F864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581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Use the standards to produce one governed example of each output.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8EBC06-83CB-46A6-AFA1-6BCE3F21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193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A77C94-856A-4000-B507-5291BBD1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18478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704695-9A3C-4A4F-8080-EF4D2DB8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0097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76DCCF-12D4-4888-AEE9-661BB1D0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876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Operate the portfolio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332B5C-7331-44C7-AD3F-08DDFFEA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581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Review adoption, quality, backlog and ownership every quarter.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372609-E399-459A-819A-963BE420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3405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Decision requested: endorse the governed consumption contract and nominate owners for the first subject area.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F2D5FF-7D25-41D7-8A25-E41B3186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4660485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2026-08-02T01:52:00.2850000Z</dcterms:created>
  <dcterms:modified xsi:type="dcterms:W3CDTF">2026-08-02T01:52:00.2850000Z</dcterms:modified>
</coreProperties>
</file>