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894f90fe04aae" /><Relationship Type="http://schemas.openxmlformats.org/officeDocument/2006/relationships/extended-properties" Target="/docProps/app.xml" Id="R0aebc03d616343bb" /><Relationship Type="http://schemas.openxmlformats.org/officeDocument/2006/relationships/officeDocument" Target="/ppt/presentation.xml" Id="R1477386b8afb49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132222d598407c"/>
  </p:sldMasterIdLst>
  <p:notesMasterIdLst>
    <p:notesMasterId xmlns:r="http://schemas.openxmlformats.org/officeDocument/2006/relationships" r:id="R56146031bb4346da"/>
  </p:notesMasterIdLst>
  <p:sldIdLst>
    <p:sldId xmlns:r="http://schemas.openxmlformats.org/officeDocument/2006/relationships" id="256" r:id="R91d899c1d5a343ad"/>
    <p:sldId xmlns:r="http://schemas.openxmlformats.org/officeDocument/2006/relationships" id="257" r:id="R514b2c5341e74472"/>
    <p:sldId xmlns:r="http://schemas.openxmlformats.org/officeDocument/2006/relationships" id="258" r:id="R9cd5fb45ea414d1f"/>
    <p:sldId xmlns:r="http://schemas.openxmlformats.org/officeDocument/2006/relationships" id="259" r:id="R5b52e143d23b495a"/>
    <p:sldId xmlns:r="http://schemas.openxmlformats.org/officeDocument/2006/relationships" id="260" r:id="Rdfd948df67cd4590"/>
    <p:sldId xmlns:r="http://schemas.openxmlformats.org/officeDocument/2006/relationships" id="261" r:id="R79ddf340a12346f8"/>
    <p:sldId xmlns:r="http://schemas.openxmlformats.org/officeDocument/2006/relationships" id="262" r:id="Re27bdeb2b8024d45"/>
    <p:sldId xmlns:r="http://schemas.openxmlformats.org/officeDocument/2006/relationships" id="263" r:id="R9f2d29f591884816"/>
    <p:sldId xmlns:r="http://schemas.openxmlformats.org/officeDocument/2006/relationships" id="264" r:id="Re54ba1253a79432d"/>
    <p:sldId xmlns:r="http://schemas.openxmlformats.org/officeDocument/2006/relationships" id="265" r:id="R66d813dd1e9b4063"/>
    <p:sldId xmlns:r="http://schemas.openxmlformats.org/officeDocument/2006/relationships" id="266" r:id="R3ed93ba5b7fa418c"/>
    <p:sldId xmlns:r="http://schemas.openxmlformats.org/officeDocument/2006/relationships" id="267" r:id="R3e186197b5f54e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e447bca0de457d" /><Relationship Type="http://schemas.openxmlformats.org/officeDocument/2006/relationships/slideMaster" Target="/ppt/slideMasters/slideMaster1.xml" Id="Re1132222d598407c" /><Relationship Type="http://schemas.openxmlformats.org/officeDocument/2006/relationships/notesMaster" Target="/ppt/notesMasters/notesMaster1.xml" Id="R56146031bb4346da" /><Relationship Type="http://schemas.openxmlformats.org/officeDocument/2006/relationships/presProps" Target="/ppt/presProps.xml" Id="R4a447d92705048a0" /><Relationship Type="http://schemas.openxmlformats.org/officeDocument/2006/relationships/tableStyles" Target="/ppt/tableStyles.xml" Id="Racf94a1b47f64b65" /><Relationship Type="http://schemas.openxmlformats.org/officeDocument/2006/relationships/slide" Target="/ppt/slides/slide1.xml" Id="R91d899c1d5a343ad" /><Relationship Type="http://schemas.openxmlformats.org/officeDocument/2006/relationships/slide" Target="/ppt/slides/slide2.xml" Id="R514b2c5341e74472" /><Relationship Type="http://schemas.openxmlformats.org/officeDocument/2006/relationships/slide" Target="/ppt/slides/slide3.xml" Id="R9cd5fb45ea414d1f" /><Relationship Type="http://schemas.openxmlformats.org/officeDocument/2006/relationships/slide" Target="/ppt/slides/slide4.xml" Id="R5b52e143d23b495a" /><Relationship Type="http://schemas.openxmlformats.org/officeDocument/2006/relationships/slide" Target="/ppt/slides/slide5.xml" Id="Rdfd948df67cd4590" /><Relationship Type="http://schemas.openxmlformats.org/officeDocument/2006/relationships/slide" Target="/ppt/slides/slide6.xml" Id="R79ddf340a12346f8" /><Relationship Type="http://schemas.openxmlformats.org/officeDocument/2006/relationships/slide" Target="/ppt/slides/slide7.xml" Id="Re27bdeb2b8024d45" /><Relationship Type="http://schemas.openxmlformats.org/officeDocument/2006/relationships/slide" Target="/ppt/slides/slide8.xml" Id="R9f2d29f591884816" /><Relationship Type="http://schemas.openxmlformats.org/officeDocument/2006/relationships/slide" Target="/ppt/slides/slide9.xml" Id="Re54ba1253a79432d" /><Relationship Type="http://schemas.openxmlformats.org/officeDocument/2006/relationships/slide" Target="/ppt/slides/slide10.xml" Id="R66d813dd1e9b4063" /><Relationship Type="http://schemas.openxmlformats.org/officeDocument/2006/relationships/slide" Target="/ppt/slides/slide11.xml" Id="R3ed93ba5b7fa418c" /><Relationship Type="http://schemas.openxmlformats.org/officeDocument/2006/relationships/slide" Target="/ppt/slides/slide12.xml" Id="R3e186197b5f54e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144f5f9fd49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4063cc8d34f78" /><Relationship Type="http://schemas.openxmlformats.org/officeDocument/2006/relationships/notesMaster" Target="/ppt/notesMasters/notesMaster1.xml" Id="R6b2458149fa94a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eebaa852164268" /><Relationship Type="http://schemas.openxmlformats.org/officeDocument/2006/relationships/notesMaster" Target="/ppt/notesMasters/notesMaster1.xml" Id="R3d9d9d576e654f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2b25844d34e1a" /><Relationship Type="http://schemas.openxmlformats.org/officeDocument/2006/relationships/notesMaster" Target="/ppt/notesMasters/notesMaster1.xml" Id="R666bb3e39b10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4f10b53c14ac4" /><Relationship Type="http://schemas.openxmlformats.org/officeDocument/2006/relationships/notesMaster" Target="/ppt/notesMasters/notesMaster1.xml" Id="Rddd7eb2b5c0140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1f7e1b05534e2a" /><Relationship Type="http://schemas.openxmlformats.org/officeDocument/2006/relationships/notesMaster" Target="/ppt/notesMasters/notesMaster1.xml" Id="Re6ae7b4475b64f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bbaf5d6334e57" /><Relationship Type="http://schemas.openxmlformats.org/officeDocument/2006/relationships/notesMaster" Target="/ppt/notesMasters/notesMaster1.xml" Id="R7d560d00a3bc4c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812cf451334236" /><Relationship Type="http://schemas.openxmlformats.org/officeDocument/2006/relationships/notesMaster" Target="/ppt/notesMasters/notesMaster1.xml" Id="Rc33dc425565d49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dd6a01c3894493" /><Relationship Type="http://schemas.openxmlformats.org/officeDocument/2006/relationships/notesMaster" Target="/ppt/notesMasters/notesMaster1.xml" Id="Rc6d1050a9cbb49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2aeecc91b24276" /><Relationship Type="http://schemas.openxmlformats.org/officeDocument/2006/relationships/notesMaster" Target="/ppt/notesMasters/notesMaster1.xml" Id="Re50879a9c8a34b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bb9975f2a4581" /><Relationship Type="http://schemas.openxmlformats.org/officeDocument/2006/relationships/notesMaster" Target="/ppt/notesMasters/notesMaster1.xml" Id="Rab3b3dc4681d4b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1fc22e83b84d4d" /><Relationship Type="http://schemas.openxmlformats.org/officeDocument/2006/relationships/notesMaster" Target="/ppt/notesMasters/notesMaster1.xml" Id="R1b40434793444f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a4b844849e4afd" /><Relationship Type="http://schemas.openxmlformats.org/officeDocument/2006/relationships/notesMaster" Target="/ppt/notesMasters/notesMaster1.xml" Id="R272b35bb8d59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91ede793e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cdd27ab3f4619" /><Relationship Type="http://schemas.openxmlformats.org/officeDocument/2006/relationships/slideLayout" Target="/ppt/slideLayouts/slideLayout1.xml" Id="R293057f93f55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057f93f55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c385b49714720" /><Relationship Type="http://schemas.openxmlformats.org/officeDocument/2006/relationships/notesSlide" Target="/ppt/notesSlides/notesSlide1.xml" Id="R7fcc673ed93347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3fa94058b499a" /><Relationship Type="http://schemas.openxmlformats.org/officeDocument/2006/relationships/notesSlide" Target="/ppt/notesSlides/notesSlide2.xml" Id="Re5066288a3cb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6b0cd51aa422a" /><Relationship Type="http://schemas.openxmlformats.org/officeDocument/2006/relationships/notesSlide" Target="/ppt/notesSlides/notesSlide3.xml" Id="R305c947deb9044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056a6db324c0a" /><Relationship Type="http://schemas.openxmlformats.org/officeDocument/2006/relationships/notesSlide" Target="/ppt/notesSlides/notesSlide4.xml" Id="R2cb3e91b67e04c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0e74caf64603" /><Relationship Type="http://schemas.openxmlformats.org/officeDocument/2006/relationships/notesSlide" Target="/ppt/notesSlides/notesSlide5.xml" Id="R9b4bd7d2352749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2baa2b0174d29" /><Relationship Type="http://schemas.openxmlformats.org/officeDocument/2006/relationships/notesSlide" Target="/ppt/notesSlides/notesSlide6.xml" Id="R86960ab9bcb5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58647a6254612" /><Relationship Type="http://schemas.openxmlformats.org/officeDocument/2006/relationships/notesSlide" Target="/ppt/notesSlides/notesSlide7.xml" Id="R30304486c1f24b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8bf8f90254334" /><Relationship Type="http://schemas.openxmlformats.org/officeDocument/2006/relationships/notesSlide" Target="/ppt/notesSlides/notesSlide8.xml" Id="R1b4cffdca7504c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8c2dd66d49ba" /><Relationship Type="http://schemas.openxmlformats.org/officeDocument/2006/relationships/notesSlide" Target="/ppt/notesSlides/notesSlide9.xml" Id="Rf1a197b6604746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fa75840584418" /><Relationship Type="http://schemas.openxmlformats.org/officeDocument/2006/relationships/notesSlide" Target="/ppt/notesSlides/notesSlide10.xml" Id="R2c7d49b923a944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3ccbf789d4b57" /><Relationship Type="http://schemas.openxmlformats.org/officeDocument/2006/relationships/notesSlide" Target="/ppt/notesSlides/notesSlide11.xml" Id="R90c3c480c2d54e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a6b156e8a4c6e" /><Relationship Type="http://schemas.openxmlformats.org/officeDocument/2006/relationships/notesSlide" Target="/ppt/notesSlides/notesSlide12.xml" Id="R86d9253577c84f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660EE-8296-4CAB-B8E6-79C5C43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75467"/>
                </a:solidFill>
              </a:defRPr>
            </a:pPr>
            <a:r>
              <a:rPr sz="2100" b="0">
                <a:solidFill>
                  <a:srgbClr val="475467"/>
                </a:solidFill>
              </a:rPr>
              <a:t>SW Data 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5E90D-19AE-4A7A-AE32-416527F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rgbClr val="0B2545"/>
                </a:solidFill>
              </a:rPr>
              <a:t>A governed APAC analytics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56071-E12C-4236-AF35-CFC4AF3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75467"/>
                </a:solidFill>
              </a:defRPr>
            </a:pPr>
            <a:r>
              <a:rPr sz="1950" b="0">
                <a:solidFill>
                  <a:srgbClr val="475467"/>
                </a:solidFill>
              </a:rPr>
              <a:t>Architecture, data lineage, semantic model and delivery standards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0ED52-DF09-4718-A022-CC024192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10000" cy="50673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818B-E937-48EF-95C9-5BAE560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EDI Gold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B49EA-F98A-4567-AFCD-223F3F10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APAC consumption layer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RC  →  SC  →  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5D57E-0ACF-4C30-9D07-AF7D7F90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Power BI • Tableau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Reports • Extensions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1908-44E1-47BE-94A5-14D585F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72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D0211-1750-4640-AF76-CF2C418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APAC consumption with a stable upstream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3E5C4-94AD-4765-81AC-43EE44F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33D2B-31AF-4EBD-9C77-B25C289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C128A-FC1A-4D31-A83F-CA3615F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APAC owns local business logic and downstream stability—without rebuilding Global EDI ETL.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79E26-86BC-4009-AB6D-49DE71B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6706-5929-43E7-BC8A-B240F1E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9FB69-0402-4736-9D32-656B5CC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Global EDI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2897A-9ED4-4180-8908-F1712D0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Curates the Gold View as the source contract. APAC does not duplicate upstream pipeline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9345C-D194-4C51-9A0A-3DC332C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ECE19-AF6B-4B64-A72A-358769B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49311-D3D9-48FC-B4C7-A8268BB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1B18B-22DF-45BA-BA9F-FE5D1DC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Integrates, corrects and semantic-models data through clearly owned coats.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D8480-D5E3-4B11-AABA-9E42251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FF795-2C6A-4B21-A261-21F7242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ECA91-C6E5-4EDB-A4DE-FA5024D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6B732-F283-40D7-93FC-7862A83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approved consumption views or semantic models in BI, reports and extensions.</a:t>
            </a:r>
          </a:p>
        </p:txBody>
      </p:sp>
      <p:cxnSp>
        <p:nvCxnSpPr>
          <p:cNvPr id="5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766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933D1-56E3-48A5-A909-1A3F7ED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Result: faster local change, traceable quality controls, and insulation from unexpected upstream schema changes.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91F54-4F18-4C2A-A229-E48CC45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357088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2CAB9-5F50-43E8-BD4D-D1DE49A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From Global EDI Gold View to governed APAC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D642B-92E2-44B5-9BD3-3CE2DB3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AF3FF-4873-4DC3-A250-848C94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21EA-4B5B-47EE-AE92-6295580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1D72F-6F96-4B06-8C39-0B5C24E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7E927-232A-42D1-AEC8-09E02B5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EDI Gold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28E54-1FC0-41EA-8515-66D061D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Upstream curated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04497-4009-46CD-BF4E-B9EC8F0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070EB-3FDE-4BF9-A06C-A72CE66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DD9B9-AB02-4380-A5F6-434B639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Integration staging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0C08F-5249-4706-9C86-E1B905E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Ingest + integrate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7155E-81CA-4AC6-95F0-566EAF6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CD413-BFF7-4CC4-8F2A-3520A2A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1B47-18DA-48A9-A76C-DCC4929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Optional harmonisation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DED8B-5290-4EC1-AB96-34347FD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Correct + enrich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D5C98-47EF-4AA7-952D-1A1A22D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BAA4A-5621-4A87-92D5-6897F68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E79A5-08E6-4D33-92F5-33BB8DC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Certified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25875-E370-40CE-9472-1022738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Semantic serving 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E425B-2EC1-4494-955D-17A5E4C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F87D4-156E-4CFA-8C81-3A3A725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39D1-998C-4EF1-AFF8-E7A0CEE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Analytics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ADFC4-4AD7-454E-809F-7E17E1B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Dashboards / reports / extensions</a:t>
            </a:r>
          </a:p>
        </p:txBody>
      </p:sp>
      <p:cxnSp>
        <p:nvCxnSpPr>
          <p:cNvPr id="8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339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8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008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8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678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CBF5D-4F7E-4F4C-AF0D-923C3C6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Local harmonisation is optional: add it only when documented APAC logic requires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E2603-392B-482C-869F-E0AF073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254930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0CE56-E618-476C-BC5F-21F276B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Data lineage is an explicit, testable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Business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Oracle EBS / boundary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Source document, module and extraction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Curated 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EDI Gold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Approved upstream object and schema 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RC → SC → 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Mapping, rule version, batch, DQ 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Semantic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Power BI / Tableau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Relationships, measures, security roles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Consumer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VI / RP / 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Dashboard, report or extension ID and release version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Lineage record must include: source-to-target mapping • business owner • technical owner • grain • refresh SLA • acceptance evidence.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51A7C-C6C2-45B2-8268-7C0F0C0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Each coat has a narrow job and physical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B9B6-2E4F-456B-A2B3-B96D1C3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B14A-CDCC-436B-90A7-4459B02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5F3B-E38B-4AEC-BA5D-1A48BDE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BD65C-CDD7-4A02-8891-197D25D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58F99-08FE-498F-ABE9-362ED0D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1 / INTEGRATION STAGING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1F2F1-6FCA-48C0-9534-ED2D760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Physical tables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Ingest EDI Gold 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Integrate related data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Preserve source keys + audit columns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Establish repeatable load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0350D-CD30-4BB3-A935-EB48AF3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569F0-792B-467C-AD48-77F89F3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E2CF-4132-4662-BF2C-C3C53D9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2 / OPTIONAL HARMONISATION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F99B-58C1-4B0C-95E0-B988A12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Table or 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Correct APAC-specific logic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Apply mappings / enrichment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Record rule owner + version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Use only when complexity justifies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80555-0451-4987-BD37-472A218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A6454-F95D-4415-8BD9-856CAAF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D6F1F-0F42-41B8-ADB7-D40AA7F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3 / CERTIFIED CONSUMPTION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084B9-EBD8-435B-8D20-5647EC5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Publish star-model semantics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Stabilize consumer contract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Expose governed KPIs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Be the only standard consumption layer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48B21-9C22-4073-A773-D9D1459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Physical naming: SW_APAC_RC / SW_APAC_SC / SW_APAC_TC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720D8-6348-4194-AF68-2C532B75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44867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D2EE1-A7A3-4A47-B750-0C8B96B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Certified consumption views use a business-friendly star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6A4CE-2307-41FA-B7CA-E6F7444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CBD7-01A6-4665-BE79-03F91CE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EBAF-6401-4243-A224-CAAF5BD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094E2-0BF4-4B4D-B87F-7B13678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97E74-B6BD-4955-A28D-D21617E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Metric / MET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60B5B-4C55-49C0-BCBD-1C1A4F2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One declared event or snapshot grain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Example: order line, inventory item-location-day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CA14-862E-4DD8-8735-FCE5EB2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D19C4-1ED5-441A-9BCB-6F24240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98B1F-508C-4CCD-8C86-3C40D7B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33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42015-474A-4A78-B3A6-783FB614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95750" y="2057400"/>
            <a:ext cx="2857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CFB1C-2B9D-4A14-B05D-5F47827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B7583-6412-4067-99A2-8BBC692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F3AA7-BC3C-446C-9CE2-110C4B7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061CF-A243-4FC5-8E52-94D8885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73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810500" y="2057400"/>
            <a:ext cx="4762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6F55F-4576-4621-867F-EC4FC5E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9ABCF-83A6-4EA5-A623-DFC5257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E4A0F-201C-4969-8D22-1A944D2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A0C71-7348-4598-9197-64AFF0B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78" name=""/>
          <p:cNvCxnSpPr>
            <a:stCxn xmlns:a="http://schemas.openxmlformats.org/drawingml/2006/main" id="1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4095750" y="3305175"/>
            <a:ext cx="285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7F562-357E-45F6-932B-E43CA62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E4FC5-2415-40C5-B99C-75FD73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07092-D6BD-4DD1-8394-1FBFED5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Organization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4E204-4EB1-4BAA-A984-0B10F5A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83" name=""/>
          <p:cNvCxnSpPr>
            <a:stCxn xmlns:a="http://schemas.openxmlformats.org/drawingml/2006/main" id="2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810500" y="3305175"/>
            <a:ext cx="476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DDCE2-2EA8-4147-9E2B-A5F4CC8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Use Link / LNK only for legitimate many-to-many relationships. Use Rollup / RUP only for approved reusable aggregation or performance needs.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365C0-5663-4A76-86D0-A5B6085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887488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BC0EA-33B0-44F3-92A2-ADDAB39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Four object types make the model readable and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REF 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context; stable descriptive 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entity/version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MET 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event or periodic / accumulating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declared grain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LNK 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Many-to-many association with explicit allocation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association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RUP  Rollup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Reusable approved aggregation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aggregation grain + period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Name pattern: SW_APAC_&lt;RC|SC|TC&gt;_&lt;SUBJECT&gt;_&lt;OBJECT&gt;_&lt;REF|MET|LNK|RUP&gt;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E0E0F-2247-4EE3-90EC-6CE478C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WHO and WHEN belong in the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A6D6A-CCD6-4131-9DA9-D88323B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D33C6-C8FA-4988-AD2C-DAD1AE7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AD573-5E8D-403E-BEF9-6455CEA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76E2C-9172-4434-BD88-039340BB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2F32-96A9-4CFE-B00B-9DE6CEB4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9C4D-0A0A-49C1-BA4B-862E536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Surrogate key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Natural key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Source system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Record 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FE0B3-FCDD-4830-AF6F-071F75B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95C8C-6627-4B64-99CD-6C8664B3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69C45-31BB-4F9C-BDFE-B594984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E2FCD-2762-47A0-8020-7A94B73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Created by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Updated by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Owner organization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Data steward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0AF97-FB77-458C-9700-9E482FC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89117-731F-4BAD-9CD8-C7116944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573A2-4CF0-4C01-8C68-C1D09E0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A9582-B0D5-4985-8A05-F997279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Effective from/to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Source extract time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Load time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As-of 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B669B-D1A2-48B6-A084-7E8DD16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84756-1819-4E35-99C2-34C5CF8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340C5-F2F7-46DF-AE65-CCC07782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CONTROL +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EDD49-46EC-4331-8FB8-D51D5447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Current/deleted flags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DQ status / exception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Batch ID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Legal entity /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86D62-5637-4FA6-92E8-E3C9322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Object-specific additions: REF = entity attributes + hierarchy • MET = all dimension keys + measures • LNK = left/right keys + allocation • RUP = period + aggregation rule version.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568D6-A11F-4E15-9192-C0DA33F0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574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69884-C6A6-4FA4-A67A-58737A9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Four delivery classes share one semantic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457325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CERTIFIED VIEW + SEMANTIC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28800"/>
            <a:ext cx="402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Stable source contract, conformed references, governed measures and security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  /  Data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Lineage, model, dictionary</a:t>
            </a:r>
          </a:p>
        </p:txBody>
      </p:sp>
      <p:cxnSp>
        <p:nvCxnSpPr>
          <p:cNvPr id="68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276475"/>
            <a:ext cx="4433888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VI  /  Visualization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Power BI / Tableau dashboards</a:t>
            </a:r>
          </a:p>
        </p:txBody>
      </p:sp>
      <p:cxnSp>
        <p:nvCxnSpPr>
          <p:cNvPr id="73" name="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276475"/>
            <a:ext cx="1576388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RP  / 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Periodic + historical reports</a:t>
            </a:r>
          </a:p>
        </p:txBody>
      </p:sp>
      <p:cxnSp>
        <p:nvCxnSpPr>
          <p:cNvPr id="78" name="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276475"/>
            <a:ext cx="128111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EX  /  Extension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Excel, RLS, DAX, sync, automation</a:t>
            </a:r>
          </a:p>
        </p:txBody>
      </p:sp>
      <p:cxnSp>
        <p:nvCxnSpPr>
          <p:cNvPr id="83" name="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276475"/>
            <a:ext cx="413861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Validation is a control plane across every class: definitions • reconciliation • security • release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A06E6-C826-4907-8A46-D2D5397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A simple documentation pack makes delivery repeatable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F7AF-6B6F-47B1-A0F0-AF9C6B0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1ED6C-E049-4F8B-B54F-48E4716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76CD3-86A4-4152-8450-07650F2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42DB-DDD6-480B-98D8-3CAA7C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0C1E-E410-48E5-B9E9-18612B3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C0E6B-7BA6-4419-885C-F8660FD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46901-4A14-49F7-A827-8F1F335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DE34-5FD0-4824-9298-2481EA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060B6-AEAB-4DB8-9945-F8439E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4EBA2-6BA2-4805-BC43-88723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DA-001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6DF0A-BD73-4D58-BCEF-EA5AAB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8122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B554D-25D1-4FE9-B9B4-FF7ECE7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Data Architecture Blueprint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C5C07-16EA-4B8B-B081-9DE4B6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8122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69656-FFBC-4153-A691-493C8C2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9552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Architecture, lineage, semantic model, data dictionary, mapping and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02171-7A94-4C4B-8F7B-AD51962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05193-4E4B-4A26-9174-5876273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VI-001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6A220-BA8A-4CE2-9DCD-F95DEBF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EB478-893A-4E37-BACB-E346B3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 Design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8CEC5-10CE-4811-838D-5AD95BF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0FE53-514C-4B04-9C6B-7B775A3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2895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Decision questions, KPI catalogue, page design, RLS and UAT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894BB-4B71-4B1C-B10E-20E8A8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4807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2E1C0-7193-4A1D-B78B-370C679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RP-001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1D302-E471-45BA-BC2B-7ADA209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D8B8E-5305-4F86-A1F0-B33E114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6237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Structured Report Design Standard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D2227-543D-4700-AD95-255C18B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4807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51D74-9211-4331-813C-69FF704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6237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Report grain, historical snapshots, Finance override, archive and sign-off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2A97E-6B0E-4F06-BFC1-A24791A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ECAA5-6CB3-4C6C-AE8F-397ECAC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EX-001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43D3E-889A-44DB-A7E1-5D8E00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66510-4C46-4B1E-B39C-860B34C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Extension Design Standard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0A5258-0451-4AA7-B281-BF4DCC8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815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14DBD-6F72-49AD-8462-F0F102F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Interface/data contract, security, operations, recovery and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CB9C3-453D-4FE8-A482-6139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Every record also carries: object ID • business owner • technical owner • version/status • review date • related object IDs.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D806F7-CA9E-46DB-A929-FFE25ED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1781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F2E5E-136A-4DD5-8CB8-2958B19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Governance assigns decisions to the right people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Managers &amp; Directors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Set priorities, approve scope and KPI ownership, resolve cross-team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ERP Functional Consultants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process truth, field meaning, exceptions and acceptance scenarios.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Data &amp; Analytics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Build/refine pipeline, semantic model, validation and support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Delivery Owners / Analysts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Design consumer experiences, test adoption and maintain documentation.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Change flow: request → impact assessment → design approval → build → reconcile → UAT → release → quarterly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1645A-072F-4271-9499-84C0C1D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Recommended next steps to scale governed consumption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3988E-934D-45F4-A8E4-CC1DFE9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CF1E4-D380-4888-A846-B2D168D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FDD9-1D1F-48B1-92AE-AD18010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7F62E-F8CD-4CA6-B592-B591957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5C426-3346-45C6-85B3-20C3E2A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Confirm subject-area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731FA-64F6-41C5-8019-587281B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Select the first business domains and name accountable owners.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C23E0-7F8E-4593-9AA5-E6BF25E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3CDD3-A6B2-4D21-BE27-9866F9E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2453F-7A7C-4473-BBEB-FFEC0B6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06E5E-CF19-443A-842D-A749B574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Publish consumption foundations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A017E-EF97-4AA3-9B0F-1047C19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Create conformed references, first metrics, naming and dictionary.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38A3C-6DF7-4410-BD70-4E670C9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BCFDD-0FBE-48DB-9F83-FA30EAD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41093-2FEA-4429-BD66-457269B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8D702-A796-4725-9655-3A440D3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Stand up control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9B048-0FEE-4FA8-9573-8E083DE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Implement lineage, quality tests, schema-change checks and security matrix.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1BE31-CE8E-462B-A05E-7969E6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270B2-86D2-4414-BE22-ADD08F3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79974-6223-41F4-8A01-6D4D182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6D945-F205-4691-81AB-4BD5B53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Deliver VI / RP / EX pilots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CF2B1-3D9C-4956-BDDF-6710F86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the standards to produce one governed example of each output.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EBC06-83CB-46A6-AFA1-6BCE3F2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77C94-856A-4000-B507-5291BBD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04695-9A3C-4A4F-8080-EF4D2DB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6DCCF-12D4-4888-AEE9-661BB1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Operate the portfolio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32B5C-7331-44C7-AD3F-08DDFFE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Review adoption, quality, backlog and ownership every quarter.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72609-E399-459A-819A-963BE42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Decision requested: endorse the governed consumption contract and nominate owners for the first subject area.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2D5FF-7D25-41D7-8A25-E41B318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466048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2026-08-01T23:52:42.9150000Z</dcterms:created>
  <dcterms:modified xsi:type="dcterms:W3CDTF">2026-08-01T23:52:42.9150000Z</dcterms:modified>
</coreProperties>
</file>